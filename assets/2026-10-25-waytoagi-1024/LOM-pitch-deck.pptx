
<file path=[Content_Types].xml><?xml version="1.0" encoding="utf-8"?>
<Types xmlns="http://schemas.openxmlformats.org/package/2006/content-types">
  <Default Extension="svg" ContentType="image/svg+xml"/>
  <Default Extension="png" ContentType="image/png"/>
  <Default Extension="jpg" ContentType="image/jpeg"/>
  <Default Extension="xml" ContentType="application/xml"/>
  <Default Extension="rels" ContentType="application/vnd.openxmlformats-package.relationships+xml"/>
  <Override PartName="/ppt/slides/slide10.xml" ContentType="application/vnd.openxmlformats-officedocument.presentationml.slid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14" Type="http://schemas.openxmlformats.org/officeDocument/2006/relationships/viewProps" Target="viewProps.xml" 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" Type="http://schemas.openxmlformats.org/officeDocument/2006/relationships/slide" Target="slides/slide1.xml" /><Relationship Id="rId3" Type="http://schemas.openxmlformats.org/officeDocument/2006/relationships/slide" Target="slides/slide3.xml" /><Relationship Id="rId11" Type="http://schemas.openxmlformats.org/officeDocument/2006/relationships/notesMaster" Target="notesMasters/notesMaster1.xml" /><Relationship Id="rId5" Type="http://schemas.openxmlformats.org/officeDocument/2006/relationships/slide" Target="slides/slide5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3" Type="http://schemas.openxmlformats.org/officeDocument/2006/relationships/image" Target="media/image3.svg" /><Relationship Id="rId1" Type="http://schemas.openxmlformats.org/officeDocument/2006/relationships/image" Target="media/image1.png" /><Relationship Id="rId4" Type="http://schemas.openxmlformats.org/officeDocument/2006/relationships/image" Target="media/image4.png" /><Relationship Id="rId2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3" Type="http://schemas.openxmlformats.org/officeDocument/2006/relationships/image" Target="media/image4.png" /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3" Type="http://schemas.openxmlformats.org/officeDocument/2006/relationships/image" Target="media/image5.svg" /><Relationship Id="rId4" Type="http://schemas.openxmlformats.org/officeDocument/2006/relationships/image" Target="media/image4.png" /><Relationship Id="rId2" Type="http://schemas.openxmlformats.org/officeDocument/2006/relationships/image" Target="media/image2.png" /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3" Type="http://schemas.openxmlformats.org/officeDocument/2006/relationships/image" Target="media/image6.jpg" /><Relationship Id="rId4" Type="http://schemas.openxmlformats.org/officeDocument/2006/relationships/image" Target="media/image4.png" /><Relationship Id="rId1" Type="http://schemas.openxmlformats.org/officeDocument/2006/relationships/image" Target="media/image1.png" /><Relationship Id="rId2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3" Type="http://schemas.openxmlformats.org/officeDocument/2006/relationships/image" Target="media/image7.jpg" /><Relationship Id="rId4" Type="http://schemas.openxmlformats.org/officeDocument/2006/relationships/image" Target="media/image4.png" /><Relationship Id="rId2" Type="http://schemas.openxmlformats.org/officeDocument/2006/relationships/image" Target="media/image2.png" /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4" Type="http://schemas.openxmlformats.org/officeDocument/2006/relationships/image" Target="media/image4.png" /><Relationship Id="rId3" Type="http://schemas.openxmlformats.org/officeDocument/2006/relationships/image" Target="media/image8.svg" /><Relationship Id="rId2" Type="http://schemas.openxmlformats.org/officeDocument/2006/relationships/image" Target="media/image2.png" /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1" Type="http://schemas.openxmlformats.org/officeDocument/2006/relationships/image" Target="media/image1.png" /><Relationship Id="rId3" Type="http://schemas.openxmlformats.org/officeDocument/2006/relationships/image" Target="media/image4.pn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3" Type="http://schemas.openxmlformats.org/officeDocument/2006/relationships/image" Target="media/image4.png" /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3" Type="http://schemas.openxmlformats.org/officeDocument/2006/relationships/image" Target="media/image4.png" /><Relationship Id="rId1" Type="http://schemas.openxmlformats.org/officeDocument/2006/relationships/image" Target="media/image1.png" /><Relationship Id="rId2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3" Type="http://schemas.openxmlformats.org/officeDocument/2006/relationships/image" Target="media/image4.png" /><Relationship Id="rId2" Type="http://schemas.openxmlformats.org/officeDocument/2006/relationships/image" Target="media/image2.png" /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slide1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1" name="" descr="&lt;Slide style={{ width: 1280, height: 720, background: '#FAFAFA', paddingTop: 44, paddingRight: 80, paddingBottom: 30, paddingLeft: 80, flexDirection: 'column', alignItems: 'center' }}&gt;&#10;  &lt;Box style={{ width: '100%', flexDirection: 'row', alignItems: 'center', gap: 10, justifyContent: 'flex-start' }}&gt;&#10;    &lt;Image src=&quot;assets/logo-strip.png&quot; style={{ height: 22, width: 276 }} /&gt;&#10;    &lt;Image src=&quot;assets/badge.png&quot; style={{ height: 17, width: 207 }} /&gt;&#10;  &lt;/Box&gt;&#10;  &lt;Text style={{ fontSize: 60, fontWeight: 'bold', color: '#111112', lineHeight: 1.2, marginTop: 18, fontFamily: 'PingFang SC', letterSpacing: -1, textAlign: 'center' }}&gt;&#10;    电脑当总指挥，&lt;br /&gt;手机替你干活。&#10;  &lt;/Text&gt;&#10;  &lt;Text style={{ fontSize: 24, color: '#111112', marginTop: 20, fontFamily: 'PingFang SC', fontWeight: 'bold', textAlign: 'center' }}&gt;麓鸣 Lom · 一人公司操作系统&lt;/Text&gt;&#10;  &lt;Text style={{ fontSize: 17, color: '#6E6E73', marginTop: 12, fontFamily: 'PingFang SC', textAlign: 'center' }}&gt;一个队长，带着一队不用睡觉的员工。&lt;/Text&gt;&#10;  &lt;svg width={620} height={220} viewBox=&quot;0 0 620 220&quot; style={{ marginTop: 24 }}&gt;&#10;    &lt;rect x=&quot;20&quot; y=&quot;60&quot; width=&quot;160&quot; height=&quot;100&quot; rx=&quot;14&quot; fill=&quot;#111112&quot; /&gt;&#10;    &lt;rect x=&quot;36&quot; y=&quot;76&quot; width=&quot;128&quot; height=&quot;48&quot; rx=&quot;6&quot; fill=&quot;#FAFAFA&quot; /&gt;&#10;    &lt;text x=&quot;100&quot; y=&quot;106&quot; textAnchor=&quot;middle&quot; fontSize=&quot;20&quot; fontWeight=&quot;bold&quot; fill=&quot;#111112&quot; fontFamily=&quot;PingFang SC&quot;&gt;Lom 总指挥&lt;/text&gt;&#10;    &lt;text x=&quot;100&quot; y=&quot;142&quot; textAnchor=&quot;middle&quot; fontSize=&quot;12&quot; fill=&quot;#B3B3BA&quot; fontFamily=&quot;JetBrains Mono&quot;&gt;Rust · Leader Agent&lt;/text&gt;&#10;    &lt;path d=&quot;M180 110 L240 110&quot; stroke=&quot;#111112&quot; strokeWidth=&quot;2&quot; fill=&quot;none&quot; /&gt;&#10;    &lt;ellipse cx=&quot;310&quot; cy=&quot;110&quot; rx=&quot;70&quot; ry=&quot;42&quot; fill=&quot;#FFFFFF&quot; stroke=&quot;#111112&quot; strokeWidth=&quot;1.5&quot; /&gt;&#10;    &lt;text x=&quot;310&quot; y=&quot;106&quot; textAnchor=&quot;middle&quot; fontSize=&quot;15&quot; fill=&quot;#111112&quot; fontFamily=&quot;PingFang SC&quot;&gt;端到端加密中转&lt;/text&gt;&#10;    &lt;text x=&quot;310&quot; y=&quot;128&quot; textAnchor=&quot;middle&quot; fontSize=&quot;11&quot; fill=&quot;#6E6E73&quot; fontFamily=&quot;JetBrains Mono&quot;&gt;只转发密文&lt;/text&gt;&#10;    &lt;path d=&quot;M380 100 L440 68&quot; stroke=&quot;#111112&quot; strokeWidth=&quot;2&quot; fill=&quot;none&quot; /&gt;&#10;    &lt;path d=&quot;M380 120 L440 152&quot; stroke=&quot;#111112&quot; strokeWidth=&quot;2&quot; fill=&quot;none&quot; /&gt;&#10;    &lt;rect x=&quot;440&quot; y=&quot;30&quot; width=&quot;130&quot; height=&quot;76&quot; rx=&quot;12&quot; fill=&quot;#FFFFFF&quot; stroke=&quot;#111112&quot; strokeWidth=&quot;1.5&quot; /&gt;&#10;    &lt;circle cx=&quot;460&quot; cy=&quot;48&quot; r=&quot;5&quot; fill=&quot;#1F8A4C&quot; /&gt;&#10;    &lt;text x=&quot;505&quot; y=&quot;66&quot; textAnchor=&quot;middle&quot; fontSize=&quot;16&quot; fill=&quot;#111112&quot; fontFamily=&quot;PingFang SC&quot;&gt;手机一号&lt;/text&gt;&#10;    &lt;text x=&quot;505&quot; y=&quot;88&quot; textAnchor=&quot;middle&quot; fontSize=&quot;11&quot; fill=&quot;#6E6E73&quot; fontFamily=&quot;PingFang SC&quot;&gt;看屏 · 动手&lt;/text&gt;&#10;    &lt;rect x=&quot;440&quot; y=&quot;130&quot; width=&quot;130&quot; height=&quot;76&quot; rx=&quot;12&quot; fill=&quot;#FFFFFF&quot; stroke=&quot;#111112&quot; strokeWidth=&quot;1.5&quot; /&gt;&#10;    &lt;circle cx=&quot;460&quot; cy=&quot;148&quot; r=&quot;5&quot; fill=&quot;#1F8A4C&quot; /&gt;&#10;    &lt;text x=&quot;505&quot; y=&quot;166&quot; textAnchor=&quot;middle&quot; fontSize=&quot;16&quot; fill=&quot;#111112&quot; fontFamily=&quot;PingFang SC&quot;&gt;手机二号&lt;/text&gt;&#10;    &lt;text x=&quot;505&quot; y=&quot;188&quot; textAnchor=&quot;middle&quot; fontSize=&quot;11&quot; fill=&quot;#6E6E73&quot; fontFamily=&quot;PingFang SC&quot;&gt;看屏 · 动手&lt;/text&gt;&#10;  &lt;/svg&gt;&#10;  &lt;Box style={{ flexDirection: 'row', gap: 12, alignItems: 'center', marginTop: 24 }}&gt;&#10;    &lt;Image src=&quot;assets/lom-logo.png&quot; style={{ height: 24, width: 30 }} /&gt;&#10;    &lt;Text style={{ fontSize: 13, color: '#6E6E73', fontFamily: 'JetBrains Mono' }}&gt;lom.entermodetwo.com&lt;/Text&gt;&#10;    &lt;Text style={{ fontSize: 12, color: '#B3B3BA', fontFamily: 'PingFang SC', marginLeft: 10 }}&gt;免费下载 · Mac / Windows / 安卓 · 桌面端开源 AGPL-3.0&lt;/Text&gt;&#10;    &lt;Box style={{ border: '1px solid #E4E4E7', borderRadius: 20, paddingTop: 5, paddingBottom: 5, paddingLeft: 12, paddingRight: 12, background: '#FFFFFF', marginLeft: 12 }}&gt;&#10;      &lt;Text style={{ fontSize: 12, color: '#111112', fontFamily: 'PingFang SC' }}&gt;OPC 赛道&lt;/Text&gt;&#10;    &lt;/Box&gt;&#10;    &lt;Box style={{ border: '1px solid #E4E4E7', borderRadius: 20, paddingTop: 5, paddingBottom: 5, paddingLeft: 12, paddingRight: 12, background: '#FFFFFF' }}&gt;&#10;      &lt;Text style={{ fontSize: 12, color: '#111112', fontFamily: 'PingFang SC' }}&gt;侦探赛道 · 元宝搜索底座&lt;/Text&gt;&#10;    &lt;/Box&gt;&#10;    &lt;Box style={{ border: '1px solid #E4E4E7', borderRadius: 20, paddingTop: 5, paddingBottom: 5, paddingLeft: 12, paddingRight: 12, background: '#FFFFFF' }}&gt;&#10;      &lt;Text style={{ fontSize: 12, color: '#111112', fontFamily: 'PingFang SC' }}&gt;Rust 核心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67" t="0" r="67" b="0"/>
          <a:stretch>
            <a:fillRect/>
          </a:stretch>
        </p:blipFill>
        <p:spPr>
          <a:xfrm rot="0" flipH="0" flipV="0">
            <a:off x="762000" y="419100"/>
            <a:ext cx="2628900" cy="209550"/>
          </a:xfrm>
          <a:prstGeom prst="rect">
            <a:avLst/>
          </a:prstGeom>
          <a:ln/>
        </p:spPr>
      </p:pic>
      <p:pic>
        <p:nvPicPr>
          <p:cNvPr id="4" name=""/>
          <p:cNvPicPr>
            <a:picLocks noChangeAspect="1"/>
          </p:cNvPicPr>
          <p:nvPr/>
        </p:nvPicPr>
        <p:blipFill>
          <a:blip r:embed="rId2"/>
          <a:srcRect l="96" t="0" r="96" b="0"/>
          <a:stretch>
            <a:fillRect/>
          </a:stretch>
        </p:blipFill>
        <p:spPr>
          <a:xfrm rot="0" flipH="0" flipV="0">
            <a:off x="3486150" y="447675"/>
            <a:ext cx="1971675" cy="161925"/>
          </a:xfrm>
          <a:prstGeom prst="rect">
            <a:avLst/>
          </a:prstGeom>
          <a:ln/>
        </p:spPr>
      </p:pic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4133850" y="800100"/>
            <a:ext cx="3933825" cy="1647825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zh-CN" sz="4500" b="1" spc="-75">
                <a:solidFill>
                  <a:srgbClr val="111112"/>
                </a:solidFill>
                <a:latin typeface="PingFang SC"/>
                <a:ea typeface="PingFang SC"/>
              </a:rPr>
              <a:t>电脑当总指挥，</a:t>
            </a:r>
            <a:endParaRPr/>
          </a:p>
          <a:p>
            <a:pPr algn="ctr">
              <a:lnSpc>
                <a:spcPct val="120000"/>
              </a:lnSpc>
            </a:pPr>
            <a:r>
              <a:rPr lang="zh-CN" sz="4500" b="1" spc="-75">
                <a:solidFill>
                  <a:srgbClr val="111112"/>
                </a:solidFill>
                <a:latin typeface="PingFang SC"/>
                <a:ea typeface="PingFang SC"/>
              </a:rPr>
              <a:t>手机替你干活。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4543425" y="2638425"/>
            <a:ext cx="3105150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800" b="1">
                <a:solidFill>
                  <a:srgbClr val="111112"/>
                </a:solidFill>
                <a:latin typeface="PingFang SC"/>
                <a:ea typeface="PingFang SC"/>
              </a:rPr>
              <a:t>麓鸣</a:t>
            </a:r>
            <a:r>
              <a:rPr lang="en-US" sz="1800" b="1">
                <a:solidFill>
                  <a:srgbClr val="111112"/>
                </a:solidFill>
                <a:latin typeface="PingFang SC"/>
                <a:ea typeface="PingFang SC"/>
              </a:rPr>
              <a:t xml:space="preserve"> Lom · </a:t>
            </a:r>
            <a:r>
              <a:rPr lang="zh-CN" sz="1800" b="1">
                <a:solidFill>
                  <a:srgbClr val="111112"/>
                </a:solidFill>
                <a:latin typeface="PingFang SC"/>
                <a:ea typeface="PingFang SC"/>
              </a:rPr>
              <a:t>一人公司操作系统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4724400" y="3028950"/>
            <a:ext cx="2752725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>
                <a:solidFill>
                  <a:srgbClr val="6E6E73"/>
                </a:solidFill>
                <a:latin typeface="PingFang SC"/>
                <a:ea typeface="PingFang SC"/>
              </a:rPr>
              <a:t>一个队长，带着一队不用睡觉的员工。</a:t>
            </a:r>
            <a:endParaRPr/>
          </a:p>
        </p:txBody>
      </p:sp>
      <p:pic>
        <p:nvPicPr>
          <p:cNvPr id="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143250" y="3457575"/>
            <a:ext cx="5905500" cy="2095500"/>
          </a:xfrm>
          <a:prstGeom prst="rect">
            <a:avLst/>
          </a:prstGeom>
          <a:ln/>
        </p:spPr>
      </p:pic>
      <p:pic>
        <p:nvPicPr>
          <p:cNvPr id="9" name=""/>
          <p:cNvPicPr>
            <a:picLocks noChangeAspect="1"/>
          </p:cNvPicPr>
          <p:nvPr/>
        </p:nvPicPr>
        <p:blipFill>
          <a:blip r:embed="rId4"/>
          <a:srcRect l="0" t="810" r="0" b="810"/>
          <a:stretch>
            <a:fillRect/>
          </a:stretch>
        </p:blipFill>
        <p:spPr>
          <a:xfrm rot="0" flipH="0" flipV="0">
            <a:off x="1885950" y="5791200"/>
            <a:ext cx="285750" cy="228600"/>
          </a:xfrm>
          <a:prstGeom prst="rect">
            <a:avLst/>
          </a:prstGeom>
          <a:ln/>
        </p:spPr>
      </p:pic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2286000" y="5829300"/>
            <a:ext cx="129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E6E73"/>
                </a:solidFill>
                <a:latin typeface="JetBrains Mono"/>
                <a:ea typeface="JetBrains Mono"/>
              </a:rPr>
              <a:t>lom.entermodetwo.com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3790950" y="5829300"/>
            <a:ext cx="3076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3B3BA"/>
                </a:solidFill>
                <a:latin typeface="PingFang SC"/>
                <a:ea typeface="PingFang SC"/>
              </a:rPr>
              <a:t>免费下载</a:t>
            </a:r>
            <a:r>
              <a:rPr lang="en-US" sz="900">
                <a:solidFill>
                  <a:srgbClr val="B3B3BA"/>
                </a:solidFill>
                <a:latin typeface="PingFang SC"/>
                <a:ea typeface="PingFang SC"/>
              </a:rPr>
              <a:t xml:space="preserve"> · Mac / Windows / </a:t>
            </a:r>
            <a:r>
              <a:rPr lang="zh-CN" sz="900">
                <a:solidFill>
                  <a:srgbClr val="B3B3BA"/>
                </a:solidFill>
                <a:latin typeface="PingFang SC"/>
                <a:ea typeface="PingFang SC"/>
              </a:rPr>
              <a:t>安卓</a:t>
            </a:r>
            <a:r>
              <a:rPr lang="en-US" sz="900">
                <a:solidFill>
                  <a:srgbClr val="B3B3BA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900">
                <a:solidFill>
                  <a:srgbClr val="B3B3BA"/>
                </a:solidFill>
                <a:latin typeface="PingFang SC"/>
                <a:ea typeface="PingFang SC"/>
              </a:rPr>
              <a:t>桌面端开源</a:t>
            </a:r>
            <a:r>
              <a:rPr lang="en-US" sz="900">
                <a:solidFill>
                  <a:srgbClr val="B3B3BA"/>
                </a:solidFill>
                <a:latin typeface="PingFang SC"/>
                <a:ea typeface="PingFang SC"/>
              </a:rPr>
              <a:t xml:space="preserve"> AGPL-3.0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7096125" y="5781675"/>
            <a:ext cx="742950" cy="238125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210425" y="5829300"/>
            <a:ext cx="514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111112"/>
                </a:solidFill>
                <a:latin typeface="PingFang SC"/>
                <a:ea typeface="PingFang SC"/>
              </a:rPr>
              <a:t xml:space="preserve">OPC </a:t>
            </a:r>
            <a:r>
              <a:rPr lang="zh-CN" sz="900">
                <a:solidFill>
                  <a:srgbClr val="111112"/>
                </a:solidFill>
                <a:latin typeface="PingFang SC"/>
                <a:ea typeface="PingFang SC"/>
              </a:rPr>
              <a:t>赛道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7953375" y="5781675"/>
            <a:ext cx="1504950" cy="238125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067675" y="5829300"/>
            <a:ext cx="1276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111112"/>
                </a:solidFill>
                <a:latin typeface="PingFang SC"/>
                <a:ea typeface="PingFang SC"/>
              </a:rPr>
              <a:t>侦探赛道</a:t>
            </a:r>
            <a:r>
              <a:rPr lang="en-US" sz="900">
                <a:solidFill>
                  <a:srgbClr val="111112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900">
                <a:solidFill>
                  <a:srgbClr val="111112"/>
                </a:solidFill>
                <a:latin typeface="PingFang SC"/>
                <a:ea typeface="PingFang SC"/>
              </a:rPr>
              <a:t>元宝搜索底座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9572625" y="5781675"/>
            <a:ext cx="742950" cy="238125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9686925" y="5829300"/>
            <a:ext cx="514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111112"/>
                </a:solidFill>
                <a:latin typeface="PingFang SC"/>
                <a:ea typeface="PingFang SC"/>
              </a:rPr>
              <a:t xml:space="preserve">Rust </a:t>
            </a:r>
            <a:r>
              <a:rPr lang="zh-CN" sz="900">
                <a:solidFill>
                  <a:srgbClr val="111112"/>
                </a:solidFill>
                <a:latin typeface="PingFang SC"/>
                <a:ea typeface="PingFang SC"/>
              </a:rPr>
              <a:t>核心</a:t>
            </a:r>
            <a:endParaRPr/>
          </a:p>
        </p:txBody>
      </p:sp>
    </p:spTree>
  </p:cSld>
</p:sld>
</file>

<file path=ppt/slides/slide2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46" name="" descr="&lt;Slide style={{ width: 1280, height: 720, background: '#FAFAFA', paddingTop: 20, paddingRight: 72, paddingBottom: 20, paddingLeft: 72, flexDirection: 'column' }}&gt;&#10;  &lt;Box style={{ height: 100, justifyContent: 'center', flexDirection: 'column' }}&gt;&#10;    &lt;Box style={{ flexDirection: 'row', alignItems: 'center', gap: 10, marginBottom: 6 }}&gt;&#10;      &lt;Image src=&quot;assets/logo-strip.png&quot; style={{ height: 15, width: 188 }} /&gt;&#10;      &lt;Image src=&quot;assets/badge.png&quot; style={{ height: 12, width: 146 }} /&gt;&#10;    &lt;/Box&gt;&#10;    &lt;Text style={{ fontSize: 30, fontWeight: 'bold', color: '#111112', fontFamily: 'PingFang SC' }}&gt;一个人开公司，卡在三座山&lt;/Text&gt;&#10;  &lt;/Box&gt;&#10;  &lt;Box style={{ height: 500, flexDirection: 'row' }}&gt;&#10;    &lt;Box style={{ width: 290, flexDirection: 'column', justifyContent: 'space-between', paddingTop: 36, paddingBottom: 36 }}&gt;&#10;      &lt;Box&gt;&#10;        &lt;Text style={{ fontSize: 108, fontWeight: 'bold', color: '#111112', fontFamily: 'JetBrains Mono', lineHeight: 1 }}&gt;3&lt;/Text&gt;&#10;        &lt;Text style={{ fontSize: 26, fontWeight: 'bold', color: '#111112', fontFamily: 'PingFang SC', marginTop: 6 }}&gt;座大山&lt;/Text&gt;&#10;      &lt;/Box&gt;&#10;      &lt;Box style={{ borderTop: '1px solid #E4E4E7', paddingTop: 18 }}&gt;&#10;        &lt;Text style={{ fontSize: 16, color: '#6E6E73', fontFamily: 'PingFang SC', lineHeight: 1.75 }}&gt;工具从来不缺。&lt;br /&gt;缺的是把工具串成生意的，&lt;br /&gt;那最后一口气。&lt;/Text&gt;&#10;      &lt;/Box&gt;&#10;    &lt;/Box&gt;&#10;    &lt;Box style={{ flex: 1, flexDirection: 'column', gap: 22, marginLeft: 36 }}&gt;&#10;      &lt;Box style={{ height: 152, background: '#FFFFFF', border: '1px solid #E4E4E7', borderRadius: 14, paddingLeft: 24, paddingRight: 24, flexDirection: 'row', alignItems: 'center' }}&gt;&#10;        &lt;Text style={{ fontSize: 38, fontWeight: 'bold', color: '#E4E4E7', fontFamily: 'JetBrains Mono', width: 74 }}&gt;01&lt;/Text&gt;&#10;        &lt;Box style={{ flex: 1 }}&gt;&#10;          &lt;Text style={{ fontSize: 22, fontWeight: 'bold', color: '#111112', fontFamily: 'PingFang SC' }}&gt;跟 AI 说不明白&lt;/Text&gt;&#10;          &lt;Text style={{ fontSize: 15, color: '#6E6E73', fontFamily: 'PingFang SC', lineHeight: 1.65, marginTop: 7 }}&gt;不会写 prompt，站在 AI 面前不知道自己要什么，更不知道怎么开口。大多数人被挡在门外第一步。&lt;/Text&gt;&#10;        &lt;/Box&gt;&#10;      &lt;/Box&gt;&#10;      &lt;Box style={{ height: 152, background: '#FFFFFF', border: '1px solid #E4E4E7', borderRadius: 14, paddingLeft: 24, paddingRight: 24, flexDirection: 'row', alignItems: 'center' }}&gt;&#10;        &lt;Text style={{ fontSize: 38, fontWeight: 'bold', color: '#E4E4E7', fontFamily: 'JetBrains Mono', width: 74 }}&gt;02&lt;/Text&gt;&#10;        &lt;Box style={{ flex: 1 }}&gt;&#10;          &lt;Text style={{ fontSize: 22, fontWeight: 'bold', color: '#111112', fontFamily: 'PingFang SC' }}&gt;最后一步还要自己动手&lt;/Text&gt;&#10;          &lt;Text style={{ fontSize: 15, color: '#6E6E73', fontFamily: 'PingFang SC', lineHeight: 1.65, marginTop: 7 }}&gt;Agent 只在电脑里串行，发不了内容、上不了货、回不了客户——策划靠 AI，落地靠人手点。&lt;/Text&gt;&#10;        &lt;/Box&gt;&#10;      &lt;/Box&gt;&#10;      &lt;Box style={{ height: 152, background: '#FFFFFF', border: '1px solid #E4E4E7', borderRadius: 14, paddingLeft: 24, paddingRight: 24, flexDirection: 'row', alignItems: 'center' }}&gt;&#10;        &lt;Text style={{ fontSize: 38, fontWeight: 'bold', color: '#E4E4E7', fontFamily: 'JetBrains Mono', width: 74 }}&gt;03&lt;/Text&gt;&#10;        &lt;Box style={{ flex: 1 }}&gt;&#10;          &lt;Text style={{ fontSize: 22, fontWeight: 'bold', color: '#111112', fontFamily: 'PingFang SC' }}&gt;搜出来的东西没人核对&lt;/Text&gt;&#10;          &lt;Text style={{ fontSize: 15, color: '#6E6E73', fontFamily: 'PingFang SC', lineHeight: 1.65, marginTop: 7 }}&gt;微信、平台、竞品的消息散落各处，无法检索、无法汇总，更谈不上交叉核对后变成决策。&lt;/Text&gt;&#10;        &lt;/Box&gt;&#10;      &lt;/Box&gt;&#10;    &lt;/Box&gt;&#10;  &lt;/Box&gt;&#10;  &lt;Box style={{ height: 60, flexDirection: 'row', alignItems: 'center', justifyContent: 'space-between', borderTop: '1px solid #E4E4E7' }}&gt;&#10;    &lt;Box style={{ flexDirection: 'row', alignItems: 'center', gap: 8 }}&gt;&#10;      &lt;Image src=&quot;assets/lom-logo.png&quot; style={{ height: 20, width: 25 }} /&gt;&#10;      &lt;Text style={{ fontSize: 13, color: '#B3B3BA', fontFamily: 'PingFang SC' }}&gt;麓鸣 Lom · 一人公司操作系统&lt;/Text&gt;&#10;    &lt;/Box&gt;&#10;    &lt;Text style={{ fontSize: 13, color: '#B3B3BA', fontFamily: 'JetBrains Mono' }}&gt;02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p/>
        </p:txBody>
      </p:sp>
      <p:pic>
        <p:nvPicPr>
          <p:cNvPr id="48" name=""/>
          <p:cNvPicPr>
            <a:picLocks noChangeAspect="1"/>
          </p:cNvPicPr>
          <p:nvPr/>
        </p:nvPicPr>
        <p:blipFill>
          <a:blip r:embed="rId1"/>
          <a:srcRect l="116" t="0" r="116" b="0"/>
          <a:stretch>
            <a:fillRect/>
          </a:stretch>
        </p:blipFill>
        <p:spPr>
          <a:xfrm rot="0" flipH="0" flipV="0">
            <a:off x="685800" y="400050"/>
            <a:ext cx="1790700" cy="142875"/>
          </a:xfrm>
          <a:prstGeom prst="rect">
            <a:avLst/>
          </a:prstGeom>
          <a:ln/>
        </p:spPr>
      </p:pic>
      <p:pic>
        <p:nvPicPr>
          <p:cNvPr id="49" name=""/>
          <p:cNvPicPr>
            <a:picLocks noChangeAspect="1"/>
          </p:cNvPicPr>
          <p:nvPr/>
        </p:nvPicPr>
        <p:blipFill>
          <a:blip r:embed="rId2"/>
          <a:srcRect l="136" t="0" r="136" b="0"/>
          <a:stretch>
            <a:fillRect/>
          </a:stretch>
        </p:blipFill>
        <p:spPr>
          <a:xfrm rot="0" flipH="0" flipV="0">
            <a:off x="2571750" y="419100"/>
            <a:ext cx="1390650" cy="114300"/>
          </a:xfrm>
          <a:prstGeom prst="rect">
            <a:avLst/>
          </a:prstGeom>
          <a:ln/>
        </p:spPr>
      </p:pic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85800" y="600075"/>
            <a:ext cx="10820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11112"/>
                </a:solidFill>
                <a:latin typeface="PingFang SC"/>
                <a:ea typeface="PingFang SC"/>
              </a:rPr>
              <a:t>一个人开公司，卡在三座山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762250" cy="1238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100" b="1">
                <a:solidFill>
                  <a:srgbClr val="111112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85800" y="2781300"/>
            <a:ext cx="2762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11112"/>
                </a:solidFill>
                <a:latin typeface="PingFang SC"/>
                <a:ea typeface="PingFang SC"/>
              </a:rPr>
              <a:t>座大山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85800" y="4419600"/>
            <a:ext cx="2762250" cy="1152525"/>
          </a:xfrm>
          <a:custGeom>
            <a:pathLst>
              <a:path w="290" h="121">
                <a:moveTo>
                  <a:pt x="0" y="0"/>
                </a:moveTo>
                <a:lnTo>
                  <a:pt x="290" y="0"/>
                </a:lnTo>
                <a:lnTo>
                  <a:pt x="290" y="1"/>
                </a:lnTo>
                <a:lnTo>
                  <a:pt x="0" y="1"/>
                </a:lnTo>
                <a:close/>
              </a:path>
            </a:pathLst>
          </a:custGeom>
          <a:solidFill>
            <a:srgbClr val="E4E4E7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85800" y="4600575"/>
            <a:ext cx="2762250" cy="9620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00">
                <a:solidFill>
                  <a:srgbClr val="6E6E73"/>
                </a:solidFill>
                <a:latin typeface="PingFang SC"/>
                <a:ea typeface="PingFang SC"/>
              </a:rPr>
              <a:t>工具从来不缺。</a:t>
            </a:r>
            <a:endParaRPr/>
          </a:p>
          <a:p>
            <a:pPr>
              <a:lnSpc>
                <a:spcPct val="175000"/>
              </a:lnSpc>
            </a:pPr>
            <a:r>
              <a:rPr lang="zh-CN" sz="1200">
                <a:solidFill>
                  <a:srgbClr val="6E6E73"/>
                </a:solidFill>
                <a:latin typeface="PingFang SC"/>
                <a:ea typeface="PingFang SC"/>
              </a:rPr>
              <a:t>缺的是把工具串成生意的，</a:t>
            </a:r>
            <a:endParaRPr/>
          </a:p>
          <a:p>
            <a:pPr>
              <a:lnSpc>
                <a:spcPct val="175000"/>
              </a:lnSpc>
            </a:pPr>
            <a:r>
              <a:rPr lang="zh-CN" sz="1200">
                <a:solidFill>
                  <a:srgbClr val="6E6E73"/>
                </a:solidFill>
                <a:latin typeface="PingFang SC"/>
                <a:ea typeface="PingFang SC"/>
              </a:rPr>
              <a:t>那最后一口气。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3790950" y="1143000"/>
            <a:ext cx="7715250" cy="1447800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019550" y="1647825"/>
            <a:ext cx="7048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E4E4E7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4724400" y="1562100"/>
            <a:ext cx="655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11112"/>
                </a:solidFill>
                <a:latin typeface="PingFang SC"/>
                <a:ea typeface="PingFang SC"/>
              </a:rPr>
              <a:t>跟</a:t>
            </a:r>
            <a:r>
              <a:rPr lang="en-US" sz="1650" b="1">
                <a:solidFill>
                  <a:srgbClr val="111112"/>
                </a:solidFill>
                <a:latin typeface="PingFang SC"/>
                <a:ea typeface="PingFang SC"/>
              </a:rPr>
              <a:t xml:space="preserve"> AI </a:t>
            </a:r>
            <a:r>
              <a:rPr lang="zh-CN" sz="1650" b="1">
                <a:solidFill>
                  <a:srgbClr val="111112"/>
                </a:solidFill>
                <a:latin typeface="PingFang SC"/>
                <a:ea typeface="PingFang SC"/>
              </a:rPr>
              <a:t>说不明白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4724400" y="1885950"/>
            <a:ext cx="65532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不会写</a:t>
            </a: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 xml:space="preserve"> prompt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，站在</a:t>
            </a: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 xml:space="preserve"> AI 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面前不知道自己要什么，更不知道怎么开口。大多数人被挡在门外第一步。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3790950" y="2800350"/>
            <a:ext cx="7715250" cy="1447800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019550" y="3305175"/>
            <a:ext cx="7048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E4E4E7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724400" y="3219450"/>
            <a:ext cx="655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11112"/>
                </a:solidFill>
                <a:latin typeface="PingFang SC"/>
                <a:ea typeface="PingFang SC"/>
              </a:rPr>
              <a:t>最后一步还要自己动手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724400" y="3543300"/>
            <a:ext cx="65532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 xml:space="preserve">Agent 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只在电脑里串行，发不了内容、上不了货、回不了客户——策划靠</a:t>
            </a: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 xml:space="preserve"> AI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，落地靠人手点。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3790950" y="4457700"/>
            <a:ext cx="7715250" cy="1447800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019550" y="4962525"/>
            <a:ext cx="7048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E4E4E7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724400" y="4876800"/>
            <a:ext cx="655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11112"/>
                </a:solidFill>
                <a:latin typeface="PingFang SC"/>
                <a:ea typeface="PingFang SC"/>
              </a:rPr>
              <a:t>搜出来的东西没人核对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4724400" y="5200650"/>
            <a:ext cx="65532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微信、平台、竞品的消息散落各处，无法检索、无法汇总，更谈不上交叉核对后变成决策。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685800" y="5905500"/>
            <a:ext cx="10820400" cy="571500"/>
          </a:xfrm>
          <a:custGeom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E4E4E7"/>
          </a:solidFill>
          <a:ln/>
        </p:spPr>
        <p:txBody>
          <a:bodyPr/>
          <a:p/>
        </p:txBody>
      </p:sp>
      <p:pic>
        <p:nvPicPr>
          <p:cNvPr id="68" name=""/>
          <p:cNvPicPr>
            <a:picLocks noChangeAspect="1"/>
          </p:cNvPicPr>
          <p:nvPr/>
        </p:nvPicPr>
        <p:blipFill>
          <a:blip r:embed="rId3"/>
          <a:srcRect l="0" t="810" r="0" b="810"/>
          <a:stretch>
            <a:fillRect/>
          </a:stretch>
        </p:blipFill>
        <p:spPr>
          <a:xfrm rot="0" flipH="0" flipV="0">
            <a:off x="685800" y="6105525"/>
            <a:ext cx="238125" cy="190500"/>
          </a:xfrm>
          <a:prstGeom prst="rect">
            <a:avLst/>
          </a:prstGeom>
          <a:ln/>
        </p:spPr>
      </p:pic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000125" y="6124575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3B3BA"/>
                </a:solidFill>
                <a:latin typeface="PingFang SC"/>
                <a:ea typeface="PingFang SC"/>
              </a:rPr>
              <a:t>麓鸣</a:t>
            </a:r>
            <a:r>
              <a:rPr lang="en-US" sz="975">
                <a:solidFill>
                  <a:srgbClr val="B3B3BA"/>
                </a:solidFill>
                <a:latin typeface="PingFang SC"/>
                <a:ea typeface="PingFang SC"/>
              </a:rPr>
              <a:t xml:space="preserve"> Lom · </a:t>
            </a:r>
            <a:r>
              <a:rPr lang="zh-CN" sz="975">
                <a:solidFill>
                  <a:srgbClr val="B3B3BA"/>
                </a:solidFill>
                <a:latin typeface="PingFang SC"/>
                <a:ea typeface="PingFang SC"/>
              </a:rPr>
              <a:t>一人公司操作系统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1125200" y="61245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B3B3BA"/>
                </a:solidFill>
                <a:latin typeface="JetBrains Mono"/>
                <a:ea typeface="JetBrains Mono"/>
              </a:rPr>
              <a:t>02 / 10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71" name="" descr="&lt;Slide style={{ width: 1280, height: 720, background: '#FAFAFA', paddingTop: 20, paddingRight: 72, paddingBottom: 20, paddingLeft: 72, flexDirection: 'column' }}&gt;&#10;  &lt;Box style={{ height: 100, justifyContent: 'center', flexDirection: 'column' }}&gt;&#10;    &lt;Box style={{ flexDirection: 'row', alignItems: 'center', gap: 10, marginBottom: 6 }}&gt;&#10;      &lt;Image src=&quot;assets/logo-strip.png&quot; style={{ height: 15, width: 188 }} /&gt;&#10;      &lt;Image src=&quot;assets/badge.png&quot; style={{ height: 12, width: 146 }} /&gt;&#10;    &lt;/Box&gt;&#10;    &lt;Text style={{ fontSize: 30, fontWeight: 'bold', color: '#111112', fontFamily: 'PingFang SC' }}&gt;一个总指挥，管好所有手机&lt;/Text&gt;&#10;  &lt;/Box&gt;&#10;  &lt;Box style={{ height: 500, flexDirection: 'row' }}&gt;&#10;    &lt;Box style={{ width: 580, justifyContent: 'center' }}&gt;&#10;      &lt;svg width={580} height={460} viewBox=&quot;0 0 580 460&quot;&gt;&#10;        &lt;rect x=&quot;20&quot; y=&quot;10&quot; width=&quot;540&quot; height=&quot;104&quot; rx=&quot;14&quot; fill=&quot;#111112&quot; /&gt;&#10;        &lt;text x=&quot;46&quot; y=&quot;46&quot; fontSize=&quot;21&quot; fontWeight=&quot;bold&quot; fill=&quot;#FAFAFA&quot; fontFamily=&quot;PingFang SC&quot;&gt;队长层 · Leader Agent&lt;/text&gt;&#10;        &lt;text x=&quot;46&quot; y=&quot;78&quot; fontSize=&quot;14&quot; fill=&quot;#B3B3BA&quot; fontFamily=&quot;PingFang SC&quot;&gt;接需 · 派活 · 上下文裁剪（JEV 思路）&lt;/text&gt;&#10;        &lt;text x=&quot;436&quot; y=&quot;52&quot; fontSize=&quot;13&quot; fill=&quot;#4CC07A&quot; fontFamily=&quot;JetBrains Mono&quot;&gt;ONLINE&lt;/text&gt;&#10;        &lt;path d=&quot;M160 114 L160 158&quot; stroke=&quot;#111112&quot; strokeWidth=&quot;1.5&quot; fill=&quot;none&quot; /&gt;&#10;        &lt;path d=&quot;M420 114 L420 158&quot; stroke=&quot;#111112&quot; strokeWidth=&quot;1.5&quot; fill=&quot;none&quot; /&gt;&#10;        &lt;rect x=&quot;20&quot; y=&quot;158&quot; width=&quot;260&quot; height=&quot;140&quot; rx=&quot;14&quot; fill=&quot;#FFFFFF&quot; stroke=&quot;#111112&quot; strokeWidth=&quot;1.5&quot; /&gt;&#10;        &lt;text x=&quot;44&quot; y=&quot;192&quot; fontSize=&quot;19&quot; fontWeight=&quot;bold&quot; fill=&quot;#111112&quot; fontFamily=&quot;PingFang SC&quot;&gt;情报层 · OPC 团队&lt;/text&gt;&#10;        &lt;text x=&quot;44&quot; y=&quot;220&quot; fontSize=&quot;13&quot; fill=&quot;#6E6E73&quot; fontFamily=&quot;PingFang SC&quot;&gt;元宝搜索 · 交叉验证&lt;/text&gt;&#10;        &lt;text x=&quot;44&quot; y=&quot;244&quot; fontSize=&quot;13&quot; fill=&quot;#6E6E73&quot; fontFamily=&quot;PingFang SC&quot;&gt;持续盯梢 · 开图成作战地图&lt;/text&gt;&#10;        &lt;text x=&quot;44&quot; y=&quot;268&quot; fontSize=&quot;13&quot; fill=&quot;#6E6E73&quot; fontFamily=&quot;PingFang SC&quot;&gt;任意 Agent 可调用 · 多源核对&lt;/text&gt;&#10;        &lt;text x=&quot;44&quot; y=&quot;290&quot; fontSize=&quot;11&quot; fill=&quot;#1F8A4C&quot; fontFamily=&quot;JetBrains Mono&quot;&gt;SEARCH + VERIFY&lt;/text&gt;&#10;        &lt;rect x=&quot;300&quot; y=&quot;158&quot; width=&quot;260&quot; height=&quot;140&quot; rx=&quot;14&quot; fill=&quot;#FFFFFF&quot; stroke=&quot;#111112&quot; strokeWidth=&quot;1.5&quot; /&gt;&#10;        &lt;text x=&quot;324&quot; y=&quot;192&quot; fontSize=&quot;19&quot; fontWeight=&quot;bold&quot; fill=&quot;#111112&quot; fontFamily=&quot;PingFang SC&quot;&gt;执行层 · 员工团队&lt;/text&gt;&#10;        &lt;text x=&quot;324&quot; y=&quot;220&quot; fontSize=&quot;13&quot; fill=&quot;#6E6E73&quot; fontFamily=&quot;PingFang SC&quot;&gt;Codex · Claude Code · 文案&lt;/text&gt;&#10;        &lt;text x=&quot;324&quot; y=&quot;244&quot; fontSize=&quot;13&quot; fill=&quot;#6E6E73&quot; fontFamily=&quot;PingFang SC&quot;&gt;手机 Agent（有手，能执行）&lt;/text&gt;&#10;        &lt;text x=&quot;324&quot; y=&quot;268&quot; fontSize=&quot;13&quot; fill=&quot;#6E6E73&quot; fontFamily=&quot;PingFang SC&quot;&gt;发布 · 上架 · 回复 · 私信&lt;/text&gt;&#10;        &lt;text x=&quot;324&quot; y=&quot;290&quot; fontSize=&quot;11&quot; fill=&quot;#1F8A4C&quot; fontFamily=&quot;JetBrains Mono&quot;&gt;EXECUTE&lt;/text&gt;&#10;        &lt;path d=&quot;M160 298 L160 336&quot; stroke=&quot;#111112&quot; strokeWidth=&quot;1.5&quot; fill=&quot;none&quot; /&gt;&#10;        &lt;path d=&quot;M420 298 L420 336&quot; stroke=&quot;#111112&quot; strokeWidth=&quot;1.5&quot; fill=&quot;none&quot; /&gt;&#10;        &lt;rect x=&quot;20&quot; y=&quot;336&quot; width=&quot;540&quot; height=&quot;104&quot; rx=&quot;14&quot; fill=&quot;#FFFFFF&quot; stroke=&quot;#111112&quot; strokeWidth=&quot;1.5&quot; /&gt;&#10;        &lt;text x=&quot;46&quot; y=&quot;372&quot; fontSize=&quot;19&quot; fontWeight=&quot;bold&quot; fill=&quot;#111112&quot; fontFamily=&quot;PingFang SC&quot;&gt;守护层 · 麓鸣&lt;/text&gt;&#10;        &lt;text x=&quot;46&quot; y=&quot;404&quot; fontSize=&quot;14&quot; fill=&quot;#6E6E73&quot; fontFamily=&quot;PingFang SC&quot;&gt;攻防 Agent · 日志巡检 · 端到端加密&lt;/text&gt;&#10;        &lt;text x=&quot;436&quot; y=&quot;378&quot; fontSize=&quot;13&quot; fill=&quot;#1F8A4C&quot; fontFamily=&quot;JetBrains Mono&quot;&gt;24 / 7&lt;/text&gt;&#10;      &lt;/svg&gt;&#10;    &lt;/Box&gt;&#10;    &lt;Box style={{ flex: 1, flexDirection: 'column', justifyContent: 'space-between', marginLeft: 30, paddingTop: 16, paddingBottom: 16, paddingLeft: 26, paddingRight: 26, background: '#FFFFFF', border: '1px solid #E4E4E7', borderRadius: 16 }}&gt;&#10;      &lt;Text style={{ fontSize: 13, color: '#6E6E73', fontFamily: 'JetBrains Mono', letterSpacing: 1 }}&gt;一条闭环，六步转完&lt;/Text&gt;&#10;      &lt;Box style={{ flexDirection: 'column', gap: 9 }}&gt;&#10;        &lt;Box&gt;&#10;          &lt;Text style={{ fontSize: 17, color: '#111112', fontFamily: 'PingFang SC', fontWeight: 'bold' }}&gt;01　接需 · 你只说一句目标&lt;/Text&gt;&#10;        &lt;/Box&gt;&#10;        &lt;Box&gt;&#10;          &lt;Text style={{ fontSize: 17, color: '#111112', fontFamily: 'PingFang SC', fontWeight: 'bold' }}&gt;02　情报定位客户 · 元宝搜索交叉验证&lt;/Text&gt;&#10;        &lt;/Box&gt;&#10;        &lt;Box&gt;&#10;          &lt;Text style={{ fontSize: 17, color: '#111112', fontFamily: 'PingFang SC', fontWeight: 'bold' }}&gt;03　生产素材 · Codex 出素材，文案写标题&lt;/Text&gt;&#10;        &lt;/Box&gt;&#10;        &lt;Box&gt;&#10;          &lt;Text style={{ fontSize: 17, color: '#111112', fontFamily: 'PingFang SC', fontWeight: 'bold' }}&gt;04　手机 Agent 发布 · 真的发出去&lt;/Text&gt;&#10;        &lt;/Box&gt;&#10;        &lt;Box&gt;&#10;          &lt;Text style={{ fontSize: 17, color: '#111112', fontFamily: 'PingFang SC', fontWeight: 'bold' }}&gt;05　评论区找客户 · 回复、筛选、私信&lt;/Text&gt;&#10;        &lt;/Box&gt;&#10;        &lt;Box&gt;&#10;          &lt;Text style={{ fontSize: 17, color: '#1F8A4C', fontFamily: 'PingFang SC', fontWeight: 'bold' }}&gt;06　转化 · 数据回流情报层&lt;/Text&gt;&#10;        &lt;/Box&gt;&#10;      &lt;/Box&gt;&#10;      &lt;Box style={{ background: '#F1F5F2', borderRadius: 10, padding: 12 }}&gt;&#10;        &lt;Text style={{ fontSize: 13, color: '#111112', fontFamily: 'PingFang SC', lineHeight: 1.6 }}&gt;每一步都读回真实结果——「已接收」不等于完成。&lt;/Text&gt;&#10;      &lt;/Box&gt;&#10;    &lt;/Box&gt;&#10;  &lt;/Box&gt;&#10;  &lt;Box style={{ height: 60, flexDirection: 'row', alignItems: 'center', justifyContent: 'space-between', borderTop: '1px solid #E4E4E7' }}&gt;&#10;    &lt;Box style={{ flexDirection: 'row', alignItems: 'center', gap: 8 }}&gt;&#10;      &lt;Image src=&quot;assets/lom-logo.png&quot; style={{ height: 20, width: 25 }} /&gt;&#10;      &lt;Text style={{ fontSize: 13, color: '#B3B3BA', fontFamily: 'PingFang SC' }}&gt;麓鸣 Lom · 一人公司操作系统&lt;/Text&gt;&#10;    &lt;/Box&gt;&#10;    &lt;Text style={{ fontSize: 13, color: '#B3B3BA', fontFamily: 'JetBrains Mono' }}&gt;03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p/>
        </p:txBody>
      </p:sp>
      <p:pic>
        <p:nvPicPr>
          <p:cNvPr id="73" name=""/>
          <p:cNvPicPr>
            <a:picLocks noChangeAspect="1"/>
          </p:cNvPicPr>
          <p:nvPr/>
        </p:nvPicPr>
        <p:blipFill>
          <a:blip r:embed="rId1"/>
          <a:srcRect l="116" t="0" r="116" b="0"/>
          <a:stretch>
            <a:fillRect/>
          </a:stretch>
        </p:blipFill>
        <p:spPr>
          <a:xfrm rot="0" flipH="0" flipV="0">
            <a:off x="685800" y="400050"/>
            <a:ext cx="1790700" cy="142875"/>
          </a:xfrm>
          <a:prstGeom prst="rect">
            <a:avLst/>
          </a:prstGeom>
          <a:ln/>
        </p:spPr>
      </p:pic>
      <p:pic>
        <p:nvPicPr>
          <p:cNvPr id="74" name=""/>
          <p:cNvPicPr>
            <a:picLocks noChangeAspect="1"/>
          </p:cNvPicPr>
          <p:nvPr/>
        </p:nvPicPr>
        <p:blipFill>
          <a:blip r:embed="rId2"/>
          <a:srcRect l="136" t="0" r="136" b="0"/>
          <a:stretch>
            <a:fillRect/>
          </a:stretch>
        </p:blipFill>
        <p:spPr>
          <a:xfrm rot="0" flipH="0" flipV="0">
            <a:off x="2571750" y="419100"/>
            <a:ext cx="1390650" cy="114300"/>
          </a:xfrm>
          <a:prstGeom prst="rect">
            <a:avLst/>
          </a:prstGeom>
          <a:ln/>
        </p:spPr>
      </p:pic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85800" y="600075"/>
            <a:ext cx="10820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11112"/>
                </a:solidFill>
                <a:latin typeface="PingFang SC"/>
                <a:ea typeface="PingFang SC"/>
              </a:rPr>
              <a:t>一个总指挥，管好所有手机</a:t>
            </a:r>
            <a:endParaRPr/>
          </a:p>
        </p:txBody>
      </p:sp>
      <p:pic>
        <p:nvPicPr>
          <p:cNvPr id="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85800" y="1333500"/>
            <a:ext cx="5524500" cy="4381500"/>
          </a:xfrm>
          <a:prstGeom prst="rect">
            <a:avLst/>
          </a:prstGeom>
          <a:ln/>
        </p:spPr>
      </p:pic>
      <p:sp>
        <p:nvSpPr>
          <p:cNvPr id="77" name=""/>
          <p:cNvSpPr/>
          <p:nvPr/>
        </p:nvSpPr>
        <p:spPr>
          <a:xfrm rot="0" flipH="0" flipV="0">
            <a:off x="6496050" y="1143000"/>
            <a:ext cx="5010150" cy="47625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743700" y="1295400"/>
            <a:ext cx="4514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6E6E73"/>
                </a:solidFill>
                <a:latin typeface="JetBrains Mono"/>
                <a:ea typeface="JetBrains Mono"/>
              </a:rPr>
              <a:t>一条闭环，六步转完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743700" y="2552700"/>
            <a:ext cx="4514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11112"/>
                </a:solidFill>
                <a:latin typeface="PingFang SC"/>
                <a:ea typeface="PingFang SC"/>
              </a:rPr>
              <a:t>01</a:t>
            </a:r>
            <a:r>
              <a:rPr lang="zh-CN" sz="1275" b="1">
                <a:solidFill>
                  <a:srgbClr val="111112"/>
                </a:solidFill>
                <a:latin typeface="PingFang SC"/>
                <a:ea typeface="PingFang SC"/>
              </a:rPr>
              <a:t>　接需</a:t>
            </a:r>
            <a:r>
              <a:rPr lang="en-US" sz="1275" b="1">
                <a:solidFill>
                  <a:srgbClr val="111112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275" b="1">
                <a:solidFill>
                  <a:srgbClr val="111112"/>
                </a:solidFill>
                <a:latin typeface="PingFang SC"/>
                <a:ea typeface="PingFang SC"/>
              </a:rPr>
              <a:t>你只说一句目标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743700" y="2838450"/>
            <a:ext cx="4514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11112"/>
                </a:solidFill>
                <a:latin typeface="PingFang SC"/>
                <a:ea typeface="PingFang SC"/>
              </a:rPr>
              <a:t>02</a:t>
            </a:r>
            <a:r>
              <a:rPr lang="zh-CN" sz="1275" b="1">
                <a:solidFill>
                  <a:srgbClr val="111112"/>
                </a:solidFill>
                <a:latin typeface="PingFang SC"/>
                <a:ea typeface="PingFang SC"/>
              </a:rPr>
              <a:t>　情报定位客户</a:t>
            </a:r>
            <a:r>
              <a:rPr lang="en-US" sz="1275" b="1">
                <a:solidFill>
                  <a:srgbClr val="111112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275" b="1">
                <a:solidFill>
                  <a:srgbClr val="111112"/>
                </a:solidFill>
                <a:latin typeface="PingFang SC"/>
                <a:ea typeface="PingFang SC"/>
              </a:rPr>
              <a:t>元宝搜索交叉验证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743700" y="3124200"/>
            <a:ext cx="4514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11112"/>
                </a:solidFill>
                <a:latin typeface="PingFang SC"/>
                <a:ea typeface="PingFang SC"/>
              </a:rPr>
              <a:t>03</a:t>
            </a:r>
            <a:r>
              <a:rPr lang="zh-CN" sz="1275" b="1">
                <a:solidFill>
                  <a:srgbClr val="111112"/>
                </a:solidFill>
                <a:latin typeface="PingFang SC"/>
                <a:ea typeface="PingFang SC"/>
              </a:rPr>
              <a:t>　生产素材</a:t>
            </a:r>
            <a:r>
              <a:rPr lang="en-US" sz="1275" b="1">
                <a:solidFill>
                  <a:srgbClr val="111112"/>
                </a:solidFill>
                <a:latin typeface="PingFang SC"/>
                <a:ea typeface="PingFang SC"/>
              </a:rPr>
              <a:t xml:space="preserve"> · Codex </a:t>
            </a:r>
            <a:r>
              <a:rPr lang="zh-CN" sz="1275" b="1">
                <a:solidFill>
                  <a:srgbClr val="111112"/>
                </a:solidFill>
                <a:latin typeface="PingFang SC"/>
                <a:ea typeface="PingFang SC"/>
              </a:rPr>
              <a:t>出素材，文案写标题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743700" y="3409950"/>
            <a:ext cx="4514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11112"/>
                </a:solidFill>
                <a:latin typeface="PingFang SC"/>
                <a:ea typeface="PingFang SC"/>
              </a:rPr>
              <a:t>04</a:t>
            </a:r>
            <a:r>
              <a:rPr lang="zh-CN" sz="1275" b="1">
                <a:solidFill>
                  <a:srgbClr val="111112"/>
                </a:solidFill>
                <a:latin typeface="PingFang SC"/>
                <a:ea typeface="PingFang SC"/>
              </a:rPr>
              <a:t>　手机</a:t>
            </a:r>
            <a:r>
              <a:rPr lang="en-US" sz="1275" b="1">
                <a:solidFill>
                  <a:srgbClr val="111112"/>
                </a:solidFill>
                <a:latin typeface="PingFang SC"/>
                <a:ea typeface="PingFang SC"/>
              </a:rPr>
              <a:t xml:space="preserve"> Agent </a:t>
            </a:r>
            <a:r>
              <a:rPr lang="zh-CN" sz="1275" b="1">
                <a:solidFill>
                  <a:srgbClr val="111112"/>
                </a:solidFill>
                <a:latin typeface="PingFang SC"/>
                <a:ea typeface="PingFang SC"/>
              </a:rPr>
              <a:t>发布</a:t>
            </a:r>
            <a:r>
              <a:rPr lang="en-US" sz="1275" b="1">
                <a:solidFill>
                  <a:srgbClr val="111112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275" b="1">
                <a:solidFill>
                  <a:srgbClr val="111112"/>
                </a:solidFill>
                <a:latin typeface="PingFang SC"/>
                <a:ea typeface="PingFang SC"/>
              </a:rPr>
              <a:t>真的发出去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743700" y="3695700"/>
            <a:ext cx="4514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11112"/>
                </a:solidFill>
                <a:latin typeface="PingFang SC"/>
                <a:ea typeface="PingFang SC"/>
              </a:rPr>
              <a:t>05</a:t>
            </a:r>
            <a:r>
              <a:rPr lang="zh-CN" sz="1275" b="1">
                <a:solidFill>
                  <a:srgbClr val="111112"/>
                </a:solidFill>
                <a:latin typeface="PingFang SC"/>
                <a:ea typeface="PingFang SC"/>
              </a:rPr>
              <a:t>　评论区找客户</a:t>
            </a:r>
            <a:r>
              <a:rPr lang="en-US" sz="1275" b="1">
                <a:solidFill>
                  <a:srgbClr val="111112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275" b="1">
                <a:solidFill>
                  <a:srgbClr val="111112"/>
                </a:solidFill>
                <a:latin typeface="PingFang SC"/>
                <a:ea typeface="PingFang SC"/>
              </a:rPr>
              <a:t>回复、筛选、私信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743700" y="3981450"/>
            <a:ext cx="4514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F8A4C"/>
                </a:solidFill>
                <a:latin typeface="PingFang SC"/>
                <a:ea typeface="PingFang SC"/>
              </a:rPr>
              <a:t>06</a:t>
            </a:r>
            <a:r>
              <a:rPr lang="zh-CN" sz="1275" b="1">
                <a:solidFill>
                  <a:srgbClr val="1F8A4C"/>
                </a:solidFill>
                <a:latin typeface="PingFang SC"/>
                <a:ea typeface="PingFang SC"/>
              </a:rPr>
              <a:t>　转化</a:t>
            </a:r>
            <a:r>
              <a:rPr lang="en-US" sz="1275" b="1">
                <a:solidFill>
                  <a:srgbClr val="1F8A4C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275" b="1">
                <a:solidFill>
                  <a:srgbClr val="1F8A4C"/>
                </a:solidFill>
                <a:latin typeface="PingFang SC"/>
                <a:ea typeface="PingFang SC"/>
              </a:rPr>
              <a:t>数据回流情报层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743700" y="5286375"/>
            <a:ext cx="4514850" cy="466725"/>
          </a:xfrm>
          <a:prstGeom prst="roundRect">
            <a:avLst>
              <a:gd name="adj" fmla="val 20408"/>
            </a:avLst>
          </a:prstGeom>
          <a:solidFill>
            <a:srgbClr val="F1F5F2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858000" y="5400675"/>
            <a:ext cx="42862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111112"/>
                </a:solidFill>
                <a:latin typeface="PingFang SC"/>
                <a:ea typeface="PingFang SC"/>
              </a:rPr>
              <a:t>每一步都读回真实结果——「已接收」不等于完成。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85800" y="5905500"/>
            <a:ext cx="10820400" cy="571500"/>
          </a:xfrm>
          <a:custGeom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E4E4E7"/>
          </a:solidFill>
          <a:ln/>
        </p:spPr>
        <p:txBody>
          <a:bodyPr/>
          <a:p/>
        </p:txBody>
      </p:sp>
      <p:pic>
        <p:nvPicPr>
          <p:cNvPr id="88" name=""/>
          <p:cNvPicPr>
            <a:picLocks noChangeAspect="1"/>
          </p:cNvPicPr>
          <p:nvPr/>
        </p:nvPicPr>
        <p:blipFill>
          <a:blip r:embed="rId4"/>
          <a:srcRect l="0" t="810" r="0" b="810"/>
          <a:stretch>
            <a:fillRect/>
          </a:stretch>
        </p:blipFill>
        <p:spPr>
          <a:xfrm rot="0" flipH="0" flipV="0">
            <a:off x="685800" y="6105525"/>
            <a:ext cx="238125" cy="190500"/>
          </a:xfrm>
          <a:prstGeom prst="rect">
            <a:avLst/>
          </a:prstGeom>
          <a:ln/>
        </p:spPr>
      </p:pic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000125" y="6124575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3B3BA"/>
                </a:solidFill>
                <a:latin typeface="PingFang SC"/>
                <a:ea typeface="PingFang SC"/>
              </a:rPr>
              <a:t>麓鸣</a:t>
            </a:r>
            <a:r>
              <a:rPr lang="en-US" sz="975">
                <a:solidFill>
                  <a:srgbClr val="B3B3BA"/>
                </a:solidFill>
                <a:latin typeface="PingFang SC"/>
                <a:ea typeface="PingFang SC"/>
              </a:rPr>
              <a:t xml:space="preserve"> Lom · </a:t>
            </a:r>
            <a:r>
              <a:rPr lang="zh-CN" sz="975">
                <a:solidFill>
                  <a:srgbClr val="B3B3BA"/>
                </a:solidFill>
                <a:latin typeface="PingFang SC"/>
                <a:ea typeface="PingFang SC"/>
              </a:rPr>
              <a:t>一人公司操作系统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1125200" y="61245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B3B3BA"/>
                </a:solidFill>
                <a:latin typeface="JetBrains Mono"/>
                <a:ea typeface="JetBrains Mono"/>
              </a:rPr>
              <a:t>03 / 10</a:t>
            </a:r>
            <a:endParaRPr/>
          </a:p>
        </p:txBody>
      </p:sp>
    </p:spTree>
  </p:cSld>
</p:sld>
</file>

<file path=ppt/slides/slide4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91" name="" descr="&lt;Slide style={{ width: 1280, height: 720, background: '#FAFAFA', paddingTop: 20, paddingRight: 72, paddingBottom: 20, paddingLeft: 72, flexDirection: 'column' }}&gt;&#10;  &lt;Box style={{ height: 100, justifyContent: 'center', flexDirection: 'column' }}&gt;&#10;    &lt;Box style={{ flexDirection: 'row', alignItems: 'center', gap: 10, marginBottom: 6 }}&gt;&#10;      &lt;Image src=&quot;assets/logo-strip.png&quot; style={{ height: 15, width: 188 }} /&gt;&#10;      &lt;Image src=&quot;assets/badge.png&quot; style={{ height: 12, width: 146 }} /&gt;&#10;    &lt;/Box&gt;&#10;    &lt;Text style={{ fontSize: 30, fontWeight: 'bold', color: '#111112', fontFamily: 'PingFang SC' }}&gt;不让你写主观题，让你做选择题&lt;/Text&gt;&#10;  &lt;/Box&gt;&#10;  &lt;Box style={{ height: 500, flexDirection: 'row' }}&gt;&#10;    &lt;Box style={{ width: 560, background: '#FFFFFF', border: '1px solid #E4E4E7', borderRadius: 16, padding: 12, justifyContent: 'space-between' }}&gt;&#10;      &lt;Image src=&quot;assets/side-chat.jpg&quot; style={{ width: '100%', height: 320, objectFit: 'cover', borderRadius: 10 }} /&gt;&#10;      &lt;Box style={{ paddingLeft: 8, paddingRight: 8, paddingBottom: 6, paddingTop: 10 }}&gt;&#10;        &lt;Text style={{ fontSize: 15, color: '#111112', fontFamily: 'PingFang SC', fontWeight: 'bold' }}&gt;AI 干活时，侧边还能接着追问&lt;/Text&gt;&#10;        &lt;Text style={{ fontSize: 13, color: '#6E6E73', fontFamily: 'PingFang SC', marginTop: 5 }}&gt;提问卡就在侧边聊天里，不用等它停。&lt;/Text&gt;&#10;      &lt;/Box&gt;&#10;    &lt;/Box&gt;&#10;    &lt;Box style={{ flex: 1, flexDirection: 'column', marginLeft: 32, paddingTop: 4, paddingBottom: 4 }}&gt;&#10;      &lt;Box&gt;&#10;        &lt;Text style={{ fontSize: 13, color: '#6E6E73', fontFamily: 'JetBrains Mono', letterSpacing: 1 }}&gt;海龟汤提问法 · 四步&lt;/Text&gt;&#10;        &lt;Box style={{ marginTop: 16 }}&gt;&#10;          &lt;Text style={{ fontSize: 19, color: '#111112', fontFamily: 'PingFang SC', fontWeight: 'bold' }}&gt;①　二分法提问&lt;/Text&gt;&#10;          &lt;Text style={{ fontSize: 14, color: '#6E6E73', fontFamily: 'PingFang SC', marginTop: 4 }}&gt;像海龟汤，只能回答对或不对&lt;/Text&gt;&#10;        &lt;/Box&gt;&#10;        &lt;Box style={{ marginTop: 14 }}&gt;&#10;          &lt;Text style={{ fontSize: 19, color: '#111112', fontFamily: 'PingFang SC', fontWeight: 'bold' }}&gt;②　20–30 轮收敛&lt;/Text&gt;&#10;          &lt;Text style={{ fontSize: 14, color: '#6E6E73', fontFamily: 'PingFang SC', marginTop: 4 }}&gt;想法从模糊变成具体，不用自己想措辞&lt;/Text&gt;&#10;        &lt;/Box&gt;&#10;        &lt;Box style={{ marginTop: 14 }}&gt;&#10;          &lt;Text style={{ fontSize: 19, color: '#111112', fontFamily: 'PingFang SC', fontWeight: 'bold' }}&gt;③　点「结束提问」&lt;/Text&gt;&#10;          &lt;Text style={{ fontSize: 14, color: '#6E6E73', fontFamily: 'PingFang SC', marginTop: 4 }}&gt;上下文全在，不用重讲一遍&lt;/Text&gt;&#10;        &lt;/Box&gt;&#10;        &lt;Box style={{ marginTop: 14 }}&gt;&#10;          &lt;Text style={{ fontSize: 19, color: '#1F8A4C', fontFamily: 'PingFang SC', fontWeight: 'bold' }}&gt;④　方案直接出，开始生成&lt;/Text&gt;&#10;          &lt;Text style={{ fontSize: 14, color: '#6E6E73', fontFamily: 'PingFang SC', marginTop: 4 }}&gt;零门槛进入 Vibe Coding，做出来就上瘾&lt;/Text&gt;&#10;        &lt;/Box&gt;&#10;      &lt;/Box&gt;&#10;      &lt;Box style={{ background: '#F1F5F2', borderRadius: 12, padding: 16, marginTop: 18 }}&gt;&#10;        &lt;Text style={{ fontSize: 14, color: '#111112', fontFamily: 'PingFang SC', lineHeight: 1.7 }}&gt;这是应某 AI 教育头部公司的真实需求做的：&lt;br /&gt;孩子学 AI，说不清自己想要什么。&lt;/Text&gt;&#10;      &lt;/Box&gt;&#10;      &lt;Box style={{ background: '#FFFFFF', border: '1px solid #E4E4E7', borderRadius: 12, padding: 16, marginTop: 12 }}&gt;&#10;        &lt;Text style={{ fontSize: 14, color: '#6E6E73', fontFamily: 'PingFang SC', lineHeight: 1.7 }}&gt;侧边栏还能一边干活、一边追问。&lt;/Text&gt;&#10;      &lt;/Box&gt;&#10;    &lt;/Box&gt;&#10;  &lt;/Box&gt;&#10;  &lt;Box style={{ height: 60, flexDirection: 'row', alignItems: 'center', justifyContent: 'space-between', borderTop: '1px solid #E4E4E7' }}&gt;&#10;    &lt;Box style={{ flexDirection: 'row', alignItems: 'center', gap: 8 }}&gt;&#10;      &lt;Image src=&quot;assets/lom-logo.png&quot; style={{ height: 20, width: 25 }} /&gt;&#10;      &lt;Text style={{ fontSize: 13, color: '#B3B3BA', fontFamily: 'PingFang SC' }}&gt;麓鸣 Lom · 一人公司操作系统&lt;/Text&gt;&#10;    &lt;/Box&gt;&#10;    &lt;Text style={{ fontSize: 13, color: '#B3B3BA', fontFamily: 'JetBrains Mono' }}&gt;04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p/>
        </p:txBody>
      </p:sp>
      <p:pic>
        <p:nvPicPr>
          <p:cNvPr id="93" name=""/>
          <p:cNvPicPr>
            <a:picLocks noChangeAspect="1"/>
          </p:cNvPicPr>
          <p:nvPr/>
        </p:nvPicPr>
        <p:blipFill>
          <a:blip r:embed="rId1"/>
          <a:srcRect l="116" t="0" r="116" b="0"/>
          <a:stretch>
            <a:fillRect/>
          </a:stretch>
        </p:blipFill>
        <p:spPr>
          <a:xfrm rot="0" flipH="0" flipV="0">
            <a:off x="685800" y="400050"/>
            <a:ext cx="1790700" cy="142875"/>
          </a:xfrm>
          <a:prstGeom prst="rect">
            <a:avLst/>
          </a:prstGeom>
          <a:ln/>
        </p:spPr>
      </p:pic>
      <p:pic>
        <p:nvPicPr>
          <p:cNvPr id="94" name=""/>
          <p:cNvPicPr>
            <a:picLocks noChangeAspect="1"/>
          </p:cNvPicPr>
          <p:nvPr/>
        </p:nvPicPr>
        <p:blipFill>
          <a:blip r:embed="rId2"/>
          <a:srcRect l="136" t="0" r="136" b="0"/>
          <a:stretch>
            <a:fillRect/>
          </a:stretch>
        </p:blipFill>
        <p:spPr>
          <a:xfrm rot="0" flipH="0" flipV="0">
            <a:off x="2571750" y="419100"/>
            <a:ext cx="1390650" cy="114300"/>
          </a:xfrm>
          <a:prstGeom prst="rect">
            <a:avLst/>
          </a:prstGeom>
          <a:ln/>
        </p:spPr>
      </p:pic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85800" y="600075"/>
            <a:ext cx="10820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11112"/>
                </a:solidFill>
                <a:latin typeface="PingFang SC"/>
                <a:ea typeface="PingFang SC"/>
              </a:rPr>
              <a:t>不让你写主观题，让你做选择题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685800" y="1143000"/>
            <a:ext cx="5334000" cy="47625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pic>
        <p:nvPicPr>
          <p:cNvPr id="97" name=""/>
          <p:cNvPicPr>
            <a:picLocks noChangeAspect="1"/>
          </p:cNvPicPr>
          <p:nvPr/>
        </p:nvPicPr>
        <p:blipFill>
          <a:blip r:embed="rId3"/>
          <a:srcRect l="5769" t="0" r="5769" b="0"/>
          <a:stretch>
            <a:fillRect/>
          </a:stretch>
        </p:blipFill>
        <p:spPr>
          <a:xfrm rot="0" flipH="0" flipV="0">
            <a:off x="800100" y="1257300"/>
            <a:ext cx="5105400" cy="3048000"/>
          </a:xfrm>
          <a:prstGeom prst="roundRect">
            <a:avLst>
              <a:gd name="adj" fmla="val 3125"/>
            </a:avLst>
          </a:prstGeom>
          <a:ln/>
        </p:spPr>
      </p:pic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76300" y="5362575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11112"/>
                </a:solidFill>
                <a:latin typeface="PingFang SC"/>
                <a:ea typeface="PingFang SC"/>
              </a:rPr>
              <a:t xml:space="preserve">AI </a:t>
            </a:r>
            <a:r>
              <a:rPr lang="zh-CN" sz="1125" b="1">
                <a:solidFill>
                  <a:srgbClr val="111112"/>
                </a:solidFill>
                <a:latin typeface="PingFang SC"/>
                <a:ea typeface="PingFang SC"/>
              </a:rPr>
              <a:t>干活时，侧边还能接着追问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76300" y="5581650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6E73"/>
                </a:solidFill>
                <a:latin typeface="PingFang SC"/>
                <a:ea typeface="PingFang SC"/>
              </a:rPr>
              <a:t>提问卡就在侧边聊天里，不用等它停。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324600" y="1181100"/>
            <a:ext cx="5181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6E6E73"/>
                </a:solidFill>
                <a:latin typeface="JetBrains Mono"/>
                <a:ea typeface="JetBrains Mono"/>
              </a:rPr>
              <a:t>海龟汤提问法</a:t>
            </a:r>
            <a:r>
              <a:rPr lang="en-US" sz="975" spc="75">
                <a:solidFill>
                  <a:srgbClr val="6E6E73"/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975" spc="75">
                <a:solidFill>
                  <a:srgbClr val="6E6E73"/>
                </a:solidFill>
                <a:latin typeface="JetBrains Mono"/>
                <a:ea typeface="JetBrains Mono"/>
              </a:rPr>
              <a:t>四步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324600" y="1485900"/>
            <a:ext cx="5181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11112"/>
                </a:solidFill>
                <a:latin typeface="PingFang SC"/>
                <a:ea typeface="PingFang SC"/>
              </a:rPr>
              <a:t>①　二分法提问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324600" y="1743075"/>
            <a:ext cx="5181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6E73"/>
                </a:solidFill>
                <a:latin typeface="PingFang SC"/>
                <a:ea typeface="PingFang SC"/>
              </a:rPr>
              <a:t>像海龟汤，只能回答对或不对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324600" y="2038350"/>
            <a:ext cx="5181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11112"/>
                </a:solidFill>
                <a:latin typeface="PingFang SC"/>
                <a:ea typeface="PingFang SC"/>
              </a:rPr>
              <a:t>②　</a:t>
            </a:r>
            <a:r>
              <a:rPr lang="en-US" sz="1425" b="1">
                <a:solidFill>
                  <a:srgbClr val="111112"/>
                </a:solidFill>
                <a:latin typeface="PingFang SC"/>
                <a:ea typeface="PingFang SC"/>
              </a:rPr>
              <a:t xml:space="preserve">20–30 </a:t>
            </a:r>
            <a:r>
              <a:rPr lang="zh-CN" sz="1425" b="1">
                <a:solidFill>
                  <a:srgbClr val="111112"/>
                </a:solidFill>
                <a:latin typeface="PingFang SC"/>
                <a:ea typeface="PingFang SC"/>
              </a:rPr>
              <a:t>轮收敛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324600" y="2295525"/>
            <a:ext cx="5181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6E73"/>
                </a:solidFill>
                <a:latin typeface="PingFang SC"/>
                <a:ea typeface="PingFang SC"/>
              </a:rPr>
              <a:t>想法从模糊变成具体，不用自己想措辞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324600" y="2590800"/>
            <a:ext cx="5181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11112"/>
                </a:solidFill>
                <a:latin typeface="PingFang SC"/>
                <a:ea typeface="PingFang SC"/>
              </a:rPr>
              <a:t>③　点「结束提问」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324600" y="2847975"/>
            <a:ext cx="5181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6E73"/>
                </a:solidFill>
                <a:latin typeface="PingFang SC"/>
                <a:ea typeface="PingFang SC"/>
              </a:rPr>
              <a:t>上下文全在，不用重讲一遍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324600" y="3143250"/>
            <a:ext cx="5181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8A4C"/>
                </a:solidFill>
                <a:latin typeface="PingFang SC"/>
                <a:ea typeface="PingFang SC"/>
              </a:rPr>
              <a:t>④　方案直接出，开始生成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324600" y="3400425"/>
            <a:ext cx="5181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6E73"/>
                </a:solidFill>
                <a:latin typeface="PingFang SC"/>
                <a:ea typeface="PingFang SC"/>
              </a:rPr>
              <a:t>零门槛进入</a:t>
            </a:r>
            <a:r>
              <a:rPr lang="en-US" sz="1050">
                <a:solidFill>
                  <a:srgbClr val="6E6E73"/>
                </a:solidFill>
                <a:latin typeface="PingFang SC"/>
                <a:ea typeface="PingFang SC"/>
              </a:rPr>
              <a:t xml:space="preserve"> Vibe Coding</a:t>
            </a:r>
            <a:r>
              <a:rPr lang="zh-CN" sz="1050">
                <a:solidFill>
                  <a:srgbClr val="6E6E73"/>
                </a:solidFill>
                <a:latin typeface="PingFang SC"/>
                <a:ea typeface="PingFang SC"/>
              </a:rPr>
              <a:t>，做出来就上瘾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324600" y="3733800"/>
            <a:ext cx="5181600" cy="857250"/>
          </a:xfrm>
          <a:prstGeom prst="roundRect">
            <a:avLst>
              <a:gd name="adj" fmla="val 13333"/>
            </a:avLst>
          </a:prstGeom>
          <a:solidFill>
            <a:srgbClr val="F1F5F2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477000" y="3886200"/>
            <a:ext cx="4876800" cy="5524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这是应某</a:t>
            </a:r>
            <a:r>
              <a:rPr lang="en-US" sz="1050">
                <a:solidFill>
                  <a:srgbClr val="111112"/>
                </a:solidFill>
                <a:latin typeface="PingFang SC"/>
                <a:ea typeface="PingFang SC"/>
              </a:rPr>
              <a:t xml:space="preserve"> AI </a:t>
            </a: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教育头部公司的真实需求做的：</a:t>
            </a:r>
            <a:endParaRPr/>
          </a:p>
          <a:p>
            <a:pPr>
              <a:lnSpc>
                <a:spcPct val="170000"/>
              </a:lnSpc>
            </a:pP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孩子学</a:t>
            </a:r>
            <a:r>
              <a:rPr lang="en-US" sz="1050">
                <a:solidFill>
                  <a:srgbClr val="111112"/>
                </a:solidFill>
                <a:latin typeface="PingFang SC"/>
                <a:ea typeface="PingFang SC"/>
              </a:rPr>
              <a:t xml:space="preserve"> AI</a:t>
            </a: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，说不清自己想要什么。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6324600" y="4705350"/>
            <a:ext cx="5181600" cy="581025"/>
          </a:xfrm>
          <a:prstGeom prst="roundRect">
            <a:avLst>
              <a:gd name="adj" fmla="val 19672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477000" y="4857750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E6E73"/>
                </a:solidFill>
                <a:latin typeface="PingFang SC"/>
                <a:ea typeface="PingFang SC"/>
              </a:rPr>
              <a:t>侧边栏还能一边干活、一边追问。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85800" y="5905500"/>
            <a:ext cx="10820400" cy="571500"/>
          </a:xfrm>
          <a:custGeom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E4E4E7"/>
          </a:solidFill>
          <a:ln/>
        </p:spPr>
        <p:txBody>
          <a:bodyPr/>
          <a:p/>
        </p:txBody>
      </p:sp>
      <p:pic>
        <p:nvPicPr>
          <p:cNvPr id="114" name=""/>
          <p:cNvPicPr>
            <a:picLocks noChangeAspect="1"/>
          </p:cNvPicPr>
          <p:nvPr/>
        </p:nvPicPr>
        <p:blipFill>
          <a:blip r:embed="rId4"/>
          <a:srcRect l="0" t="810" r="0" b="810"/>
          <a:stretch>
            <a:fillRect/>
          </a:stretch>
        </p:blipFill>
        <p:spPr>
          <a:xfrm rot="0" flipH="0" flipV="0">
            <a:off x="685800" y="6105525"/>
            <a:ext cx="238125" cy="190500"/>
          </a:xfrm>
          <a:prstGeom prst="rect">
            <a:avLst/>
          </a:prstGeom>
          <a:ln/>
        </p:spPr>
      </p:pic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000125" y="6124575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3B3BA"/>
                </a:solidFill>
                <a:latin typeface="PingFang SC"/>
                <a:ea typeface="PingFang SC"/>
              </a:rPr>
              <a:t>麓鸣</a:t>
            </a:r>
            <a:r>
              <a:rPr lang="en-US" sz="975">
                <a:solidFill>
                  <a:srgbClr val="B3B3BA"/>
                </a:solidFill>
                <a:latin typeface="PingFang SC"/>
                <a:ea typeface="PingFang SC"/>
              </a:rPr>
              <a:t xml:space="preserve"> Lom · </a:t>
            </a:r>
            <a:r>
              <a:rPr lang="zh-CN" sz="975">
                <a:solidFill>
                  <a:srgbClr val="B3B3BA"/>
                </a:solidFill>
                <a:latin typeface="PingFang SC"/>
                <a:ea typeface="PingFang SC"/>
              </a:rPr>
              <a:t>一人公司操作系统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1125200" y="61245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B3B3BA"/>
                </a:solidFill>
                <a:latin typeface="JetBrains Mono"/>
                <a:ea typeface="JetBrains Mono"/>
              </a:rPr>
              <a:t>04 / 10</a:t>
            </a:r>
            <a:endParaRPr/>
          </a:p>
        </p:txBody>
      </p:sp>
    </p:spTree>
  </p:cSld>
</p:sld>
</file>

<file path=ppt/slides/slide5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17" name="" descr="&lt;Slide style={{ width: 1280, height: 720, background: '#FAFAFA', paddingTop: 20, paddingRight: 72, paddingBottom: 20, paddingLeft: 72, flexDirection: 'column' }}&gt;&#10;  &lt;Box style={{ height: 100, justifyContent: 'center', flexDirection: 'column' }}&gt;&#10;    &lt;Box style={{ flexDirection: 'row', alignItems: 'center', gap: 10, marginBottom: 6 }}&gt;&#10;      &lt;Image src=&quot;assets/logo-strip.png&quot; style={{ height: 15, width: 188 }} /&gt;&#10;      &lt;Image src=&quot;assets/badge.png&quot; style={{ height: 12, width: 146 }} /&gt;&#10;    &lt;/Box&gt;&#10;    &lt;Text style={{ fontSize: 30, fontWeight: 'bold', color: '#111112', fontFamily: 'PingFang SC' }}&gt;AI 搜出来的东西，得有人核对&lt;/Text&gt;&#10;  &lt;/Box&gt;&#10;  &lt;Box style={{ height: 500, flexDirection: 'row' }}&gt;&#10;    &lt;Box style={{ width: 470, flexDirection: 'column', justifyContent: 'space-between' }}&gt;&#10;      &lt;Box&gt;&#10;        &lt;Text style={{ fontSize: 62, fontWeight: 'bold', color: '#111112', fontFamily: 'PingFang SC', lineHeight: 1.15, letterSpacing: -1 }}&gt;先查，&lt;br /&gt;再说。&lt;/Text&gt;&#10;        &lt;Text style={{ fontSize: 15, color: '#6E6E73', fontFamily: 'JetBrains Mono', marginTop: 16 }}&gt;SEARCH FIRST · THEN ANSWER&lt;/Text&gt;&#10;      &lt;/Box&gt;&#10;      &lt;Box style={{ flexDirection: 'column', gap: 12 }}&gt;&#10;        &lt;Box style={{ flexDirection: 'row', gap: 10 }}&gt;&#10;          &lt;Text style={{ fontSize: 15, color: '#1F8A4C', fontFamily: 'JetBrains Mono', width: 22 }}&gt;01&lt;/Text&gt;&#10;          &lt;Text style={{ fontSize: 15, color: '#111112', fontFamily: 'PingFang SC', lineHeight: 1.6, width: 410 }}&gt;多个 Agent 同时调用元宝搜索，信息源一路滚动展示，不用只信一个页面&lt;/Text&gt;&#10;        &lt;/Box&gt;&#10;        &lt;Box style={{ flexDirection: 'row', gap: 10 }}&gt;&#10;          &lt;Text style={{ fontSize: 15, color: '#1F8A4C', fontFamily: 'JetBrains Mono', width: 22 }}&gt;02&lt;/Text&gt;&#10;          &lt;Text style={{ fontSize: 15, color: '#111112', fontFamily: 'PingFang SC', lineHeight: 1.6, width: 410 }}&gt;每个 Agent 先立假设、再用证据检验；结论带可点开的来源，逐条标注「一致 / 冲突」&lt;/Text&gt;&#10;        &lt;/Box&gt;&#10;        &lt;Box style={{ flexDirection: 'row', gap: 10 }}&gt;&#10;          &lt;Text style={{ fontSize: 15, color: '#1F8A4C', fontFamily: 'JetBrains Mono', width: 22 }}&gt;03&lt;/Text&gt;&#10;          &lt;Text style={{ fontSize: 15, color: '#111112', fontFamily: 'PingFang SC', lineHeight: 1.6, width: 410 }}&gt;查不到的不编造，写进「待验证」；说不知道不扣分，瞎编才扣分&lt;/Text&gt;&#10;        &lt;/Box&gt;&#10;        &lt;Box style={{ flexDirection: 'row', gap: 10 }}&gt;&#10;          &lt;Text style={{ fontSize: 15, color: '#1F8A4C', fontFamily: 'JetBrains Mono', width: 22 }}&gt;04&lt;/Text&gt;&#10;          &lt;Text style={{ fontSize: 15, color: '#111112', fontFamily: 'PingFang SC', lineHeight: 1.6, width: 410 }}&gt;结论分三态：不实 / 证据不足 / 基本属实——每条都附来源&lt;/Text&gt;&#10;        &lt;/Box&gt;&#10;      &lt;/Box&gt;&#10;      &lt;Box style={{ flexDirection: 'row', gap: 10, alignItems: 'center' }}&gt;&#10;        &lt;Box style={{ background: '#111112', borderRadius: 16, paddingTop: 6, paddingBottom: 6, paddingLeft: 14, paddingRight: 14 }}&gt;&#10;          &lt;Text style={{ fontSize: 12, color: '#FAFAFA', fontFamily: 'PingFang SC' }}&gt;元宝搜索底座&lt;/Text&gt;&#10;        &lt;/Box&gt;&#10;        &lt;Text style={{ fontSize: 13, color: '#6E6E73', fontFamily: 'PingFang SC' }}&gt;信息差，就是钱&lt;/Text&gt;&#10;      &lt;/Box&gt;&#10;    &lt;/Box&gt;&#10;    &lt;Box style={{ flex: 1, marginLeft: 34, background: '#FFFFFF', border: '1px solid #E4E4E7', borderRadius: 16, padding: 12, justifyContent: 'center' }}&gt;&#10;      &lt;Image src=&quot;assets/team-questions.jpg&quot; style={{ width: '100%', height: 400, objectFit: 'cover', borderRadius: 10 }} /&gt;&#10;    &lt;/Box&gt;&#10;  &lt;/Box&gt;&#10;  &lt;Box style={{ height: 60, flexDirection: 'row', alignItems: 'center', justifyContent: 'space-between', borderTop: '1px solid #E4E4E7' }}&gt;&#10;    &lt;Box style={{ flexDirection: 'row', alignItems: 'center', gap: 8 }}&gt;&#10;      &lt;Image src=&quot;assets/lom-logo.png&quot; style={{ height: 20, width: 25 }} /&gt;&#10;      &lt;Text style={{ fontSize: 13, color: '#B3B3BA', fontFamily: 'PingFang SC' }}&gt;麓鸣 Lom · 一人公司操作系统&lt;/Text&gt;&#10;    &lt;/Box&gt;&#10;    &lt;Text style={{ fontSize: 13, color: '#B3B3BA', fontFamily: 'JetBrains Mono' }}&gt;05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p/>
        </p:txBody>
      </p:sp>
      <p:pic>
        <p:nvPicPr>
          <p:cNvPr id="119" name=""/>
          <p:cNvPicPr>
            <a:picLocks noChangeAspect="1"/>
          </p:cNvPicPr>
          <p:nvPr/>
        </p:nvPicPr>
        <p:blipFill>
          <a:blip r:embed="rId1"/>
          <a:srcRect l="116" t="0" r="116" b="0"/>
          <a:stretch>
            <a:fillRect/>
          </a:stretch>
        </p:blipFill>
        <p:spPr>
          <a:xfrm rot="0" flipH="0" flipV="0">
            <a:off x="685800" y="400050"/>
            <a:ext cx="1790700" cy="142875"/>
          </a:xfrm>
          <a:prstGeom prst="rect">
            <a:avLst/>
          </a:prstGeom>
          <a:ln/>
        </p:spPr>
      </p:pic>
      <p:pic>
        <p:nvPicPr>
          <p:cNvPr id="120" name=""/>
          <p:cNvPicPr>
            <a:picLocks noChangeAspect="1"/>
          </p:cNvPicPr>
          <p:nvPr/>
        </p:nvPicPr>
        <p:blipFill>
          <a:blip r:embed="rId2"/>
          <a:srcRect l="136" t="0" r="136" b="0"/>
          <a:stretch>
            <a:fillRect/>
          </a:stretch>
        </p:blipFill>
        <p:spPr>
          <a:xfrm rot="0" flipH="0" flipV="0">
            <a:off x="2571750" y="419100"/>
            <a:ext cx="1390650" cy="114300"/>
          </a:xfrm>
          <a:prstGeom prst="rect">
            <a:avLst/>
          </a:prstGeom>
          <a:ln/>
        </p:spPr>
      </p:pic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85800" y="600075"/>
            <a:ext cx="10820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11112"/>
                </a:solidFill>
                <a:latin typeface="PingFang SC"/>
                <a:ea typeface="PingFang SC"/>
              </a:rPr>
              <a:t xml:space="preserve">AI </a:t>
            </a:r>
            <a:r>
              <a:rPr lang="zh-CN" sz="2250" b="1">
                <a:solidFill>
                  <a:srgbClr val="111112"/>
                </a:solidFill>
                <a:latin typeface="PingFang SC"/>
                <a:ea typeface="PingFang SC"/>
              </a:rPr>
              <a:t>搜出来的东西，得有人核对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4476750" cy="16383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650" b="1" spc="-75">
                <a:solidFill>
                  <a:srgbClr val="111112"/>
                </a:solidFill>
                <a:latin typeface="PingFang SC"/>
                <a:ea typeface="PingFang SC"/>
              </a:rPr>
              <a:t>先查，</a:t>
            </a:r>
            <a:endParaRPr/>
          </a:p>
          <a:p>
            <a:pPr>
              <a:lnSpc>
                <a:spcPct val="114999"/>
              </a:lnSpc>
            </a:pPr>
            <a:r>
              <a:rPr lang="zh-CN" sz="4650" b="1" spc="-75">
                <a:solidFill>
                  <a:srgbClr val="111112"/>
                </a:solidFill>
                <a:latin typeface="PingFang SC"/>
                <a:ea typeface="PingFang SC"/>
              </a:rPr>
              <a:t>再说。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85800" y="2933700"/>
            <a:ext cx="4476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E6E73"/>
                </a:solidFill>
                <a:latin typeface="JetBrains Mono"/>
                <a:ea typeface="JetBrains Mono"/>
              </a:rPr>
              <a:t>SEARCH FIRST · THEN ANSWER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85800" y="3238500"/>
            <a:ext cx="2095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F8A4C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990600" y="3238500"/>
            <a:ext cx="3905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11112"/>
                </a:solidFill>
                <a:latin typeface="PingFang SC"/>
                <a:ea typeface="PingFang SC"/>
              </a:rPr>
              <a:t>多个</a:t>
            </a:r>
            <a:r>
              <a:rPr lang="en-US" sz="1125">
                <a:solidFill>
                  <a:srgbClr val="111112"/>
                </a:solidFill>
                <a:latin typeface="PingFang SC"/>
                <a:ea typeface="PingFang SC"/>
              </a:rPr>
              <a:t xml:space="preserve"> Agent </a:t>
            </a:r>
            <a:r>
              <a:rPr lang="zh-CN" sz="1125">
                <a:solidFill>
                  <a:srgbClr val="111112"/>
                </a:solidFill>
                <a:latin typeface="PingFang SC"/>
                <a:ea typeface="PingFang SC"/>
              </a:rPr>
              <a:t>同时调用元宝搜索，信息源一路滚动展示，不用只信一个页面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85800" y="3905250"/>
            <a:ext cx="2095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F8A4C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990600" y="3905250"/>
            <a:ext cx="3905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11112"/>
                </a:solidFill>
                <a:latin typeface="PingFang SC"/>
                <a:ea typeface="PingFang SC"/>
              </a:rPr>
              <a:t>每个</a:t>
            </a:r>
            <a:r>
              <a:rPr lang="en-US" sz="1125">
                <a:solidFill>
                  <a:srgbClr val="111112"/>
                </a:solidFill>
                <a:latin typeface="PingFang SC"/>
                <a:ea typeface="PingFang SC"/>
              </a:rPr>
              <a:t xml:space="preserve"> Agent </a:t>
            </a:r>
            <a:r>
              <a:rPr lang="zh-CN" sz="1125">
                <a:solidFill>
                  <a:srgbClr val="111112"/>
                </a:solidFill>
                <a:latin typeface="PingFang SC"/>
                <a:ea typeface="PingFang SC"/>
              </a:rPr>
              <a:t>先立假设、再用证据检验；结论带可点开的来源，逐条标注「一致</a:t>
            </a:r>
            <a:r>
              <a:rPr lang="en-US" sz="1125">
                <a:solidFill>
                  <a:srgbClr val="111112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125">
                <a:solidFill>
                  <a:srgbClr val="111112"/>
                </a:solidFill>
                <a:latin typeface="PingFang SC"/>
                <a:ea typeface="PingFang SC"/>
              </a:rPr>
              <a:t>冲突」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85800" y="4572000"/>
            <a:ext cx="2095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F8A4C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990600" y="4572000"/>
            <a:ext cx="3905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11112"/>
                </a:solidFill>
                <a:latin typeface="PingFang SC"/>
                <a:ea typeface="PingFang SC"/>
              </a:rPr>
              <a:t>查不到的不编造，写进「待验证」；说不知道不扣分，瞎编才扣分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85800" y="5238750"/>
            <a:ext cx="209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F8A4C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990600" y="5238750"/>
            <a:ext cx="39052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111112"/>
                </a:solidFill>
                <a:latin typeface="PingFang SC"/>
                <a:ea typeface="PingFang SC"/>
              </a:rPr>
              <a:t>结论分三态：不实</a:t>
            </a:r>
            <a:r>
              <a:rPr lang="en-US" sz="1125">
                <a:solidFill>
                  <a:srgbClr val="111112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125">
                <a:solidFill>
                  <a:srgbClr val="111112"/>
                </a:solidFill>
                <a:latin typeface="PingFang SC"/>
                <a:ea typeface="PingFang SC"/>
              </a:rPr>
              <a:t>证据不足</a:t>
            </a:r>
            <a:r>
              <a:rPr lang="en-US" sz="1125">
                <a:solidFill>
                  <a:srgbClr val="111112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125">
                <a:solidFill>
                  <a:srgbClr val="111112"/>
                </a:solidFill>
                <a:latin typeface="PingFang SC"/>
                <a:ea typeface="PingFang SC"/>
              </a:rPr>
              <a:t>基本属实——每条都附来源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85800" y="5648325"/>
            <a:ext cx="952500" cy="257175"/>
          </a:xfrm>
          <a:prstGeom prst="roundRect">
            <a:avLst>
              <a:gd name="adj" fmla="val 59259"/>
            </a:avLst>
          </a:prstGeom>
          <a:solidFill>
            <a:srgbClr val="111112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19150" y="570547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AFAFA"/>
                </a:solidFill>
                <a:latin typeface="PingFang SC"/>
                <a:ea typeface="PingFang SC"/>
              </a:rPr>
              <a:t>元宝搜索底座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733550" y="570547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6E73"/>
                </a:solidFill>
                <a:latin typeface="PingFang SC"/>
                <a:ea typeface="PingFang SC"/>
              </a:rPr>
              <a:t>信息差，就是钱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5486400" y="1143000"/>
            <a:ext cx="6019800" cy="47625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pic>
        <p:nvPicPr>
          <p:cNvPr id="136" name=""/>
          <p:cNvPicPr>
            <a:picLocks noChangeAspect="1"/>
          </p:cNvPicPr>
          <p:nvPr/>
        </p:nvPicPr>
        <p:blipFill>
          <a:blip r:embed="rId3"/>
          <a:srcRect l="11802" t="0" r="11802" b="0"/>
          <a:stretch>
            <a:fillRect/>
          </a:stretch>
        </p:blipFill>
        <p:spPr>
          <a:xfrm rot="0" flipH="0" flipV="0">
            <a:off x="5600700" y="1619250"/>
            <a:ext cx="5791200" cy="3810000"/>
          </a:xfrm>
          <a:prstGeom prst="roundRect">
            <a:avLst>
              <a:gd name="adj" fmla="val 2500"/>
            </a:avLst>
          </a:prstGeom>
          <a:ln/>
        </p:spPr>
      </p:pic>
      <p:sp>
        <p:nvSpPr>
          <p:cNvPr id="137" name=""/>
          <p:cNvSpPr/>
          <p:nvPr/>
        </p:nvSpPr>
        <p:spPr>
          <a:xfrm rot="0" flipH="0" flipV="0">
            <a:off x="685800" y="5905500"/>
            <a:ext cx="10820400" cy="571500"/>
          </a:xfrm>
          <a:custGeom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E4E4E7"/>
          </a:solidFill>
          <a:ln/>
        </p:spPr>
        <p:txBody>
          <a:bodyPr/>
          <a:p/>
        </p:txBody>
      </p:sp>
      <p:pic>
        <p:nvPicPr>
          <p:cNvPr id="138" name=""/>
          <p:cNvPicPr>
            <a:picLocks noChangeAspect="1"/>
          </p:cNvPicPr>
          <p:nvPr/>
        </p:nvPicPr>
        <p:blipFill>
          <a:blip r:embed="rId4"/>
          <a:srcRect l="0" t="810" r="0" b="810"/>
          <a:stretch>
            <a:fillRect/>
          </a:stretch>
        </p:blipFill>
        <p:spPr>
          <a:xfrm rot="0" flipH="0" flipV="0">
            <a:off x="685800" y="6105525"/>
            <a:ext cx="238125" cy="190500"/>
          </a:xfrm>
          <a:prstGeom prst="rect">
            <a:avLst/>
          </a:prstGeom>
          <a:ln/>
        </p:spPr>
      </p:pic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000125" y="6124575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3B3BA"/>
                </a:solidFill>
                <a:latin typeface="PingFang SC"/>
                <a:ea typeface="PingFang SC"/>
              </a:rPr>
              <a:t>麓鸣</a:t>
            </a:r>
            <a:r>
              <a:rPr lang="en-US" sz="975">
                <a:solidFill>
                  <a:srgbClr val="B3B3BA"/>
                </a:solidFill>
                <a:latin typeface="PingFang SC"/>
                <a:ea typeface="PingFang SC"/>
              </a:rPr>
              <a:t xml:space="preserve"> Lom · </a:t>
            </a:r>
            <a:r>
              <a:rPr lang="zh-CN" sz="975">
                <a:solidFill>
                  <a:srgbClr val="B3B3BA"/>
                </a:solidFill>
                <a:latin typeface="PingFang SC"/>
                <a:ea typeface="PingFang SC"/>
              </a:rPr>
              <a:t>一人公司操作系统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1125200" y="61245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B3B3BA"/>
                </a:solidFill>
                <a:latin typeface="JetBrains Mono"/>
                <a:ea typeface="JetBrains Mono"/>
              </a:rPr>
              <a:t>05 / 10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141" name="" descr="&lt;Slide style={{ width: 1280, height: 720, background: '#FAFAFA', paddingTop: 20, paddingRight: 72, paddingBottom: 20, paddingLeft: 72, flexDirection: 'column' }}&gt;&#10;  &lt;Box style={{ height: 100, justifyContent: 'center', flexDirection: 'column' }}&gt;&#10;    &lt;Box style={{ flexDirection: 'row', alignItems: 'center', gap: 10, marginBottom: 6 }}&gt;&#10;      &lt;Image src=&quot;assets/logo-strip.png&quot; style={{ height: 15, width: 188 }} /&gt;&#10;      &lt;Image src=&quot;assets/badge.png&quot; style={{ height: 12, width: 146 }} /&gt;&#10;    &lt;/Box&gt;&#10;    &lt;Text style={{ fontSize: 30, fontWeight: 'bold', color: '#111112', fontFamily: 'PingFang SC' }}&gt;LOM 的 Agent，有手&lt;/Text&gt;&#10;  &lt;/Box&gt;&#10;  &lt;Box style={{ height: 500, flexDirection: 'column' }}&gt;&#10;    &lt;Box style={{ height: 260, justifyContent: 'center' }}&gt;&#10;      &lt;svg width={1120} height={240} viewBox=&quot;0 0 1120 240&quot;&gt;&#10;        &lt;rect x=&quot;10&quot; y=&quot;50&quot; width=&quot;238&quot; height=&quot;120&quot; rx=&quot;14&quot; fill=&quot;#FFFFFF&quot; stroke=&quot;#111112&quot; strokeWidth=&quot;1.5&quot; /&gt;&#10;        &lt;text x=&quot;129&quot; y=&quot;96&quot; textAnchor=&quot;middle&quot; fontSize=&quot;22&quot; fontWeight=&quot;bold&quot; fill=&quot;#111112&quot; fontFamily=&quot;PingFang SC&quot;&gt;Codex&lt;/text&gt;&#10;        &lt;text x=&quot;129&quot; y=&quot;126&quot; textAnchor=&quot;middle&quot; fontSize=&quot;14&quot; fill=&quot;#6E6E73&quot; fontFamily=&quot;PingFang SC&quot;&gt;生成视频素材&lt;/text&gt;&#10;        &lt;text x=&quot;129&quot; y=&quot;150&quot; textAnchor=&quot;middle&quot; fontSize=&quot;11&quot; fill=&quot;#B3B3BA&quot; fontFamily=&quot;JetBrains Mono&quot;&gt;STEP 01&lt;/text&gt;&#10;        &lt;path d=&quot;M248 110 L288 110&quot; stroke=&quot;#111112&quot; strokeWidth=&quot;2&quot; fill=&quot;none&quot; /&gt;&#10;        &lt;rect x=&quot;288&quot; y=&quot;50&quot; width=&quot;238&quot; height=&quot;120&quot; rx=&quot;14&quot; fill=&quot;#FFFFFF&quot; stroke=&quot;#111112&quot; strokeWidth=&quot;1.5&quot; /&gt;&#10;        &lt;text x=&quot;407&quot; y=&quot;96&quot; textAnchor=&quot;middle&quot; fontSize=&quot;22&quot; fontWeight=&quot;bold&quot; fill=&quot;#111112&quot; fontFamily=&quot;PingFang SC&quot;&gt;Claude Code&lt;/text&gt;&#10;        &lt;text x=&quot;407&quot; y=&quot;126&quot; textAnchor=&quot;middle&quot; fontSize=&quot;14&quot; fill=&quot;#6E6E73&quot; fontFamily=&quot;PingFang SC&quot;&gt;剪成视频&lt;/text&gt;&#10;        &lt;text x=&quot;407&quot; y=&quot;150&quot; textAnchor=&quot;middle&quot; fontSize=&quot;11&quot; fill=&quot;#B3B3BA&quot; fontFamily=&quot;JetBrains Mono&quot;&gt;STEP 02&lt;/text&gt;&#10;        &lt;path d=&quot;M526 110 L566 110&quot; stroke=&quot;#111112&quot; strokeWidth=&quot;2&quot; fill=&quot;none&quot; /&gt;&#10;        &lt;rect x=&quot;566&quot; y=&quot;50&quot; width=&quot;238&quot; height=&quot;120&quot; rx=&quot;14&quot; fill=&quot;#FFFFFF&quot; stroke=&quot;#111112&quot; strokeWidth=&quot;1.5&quot; /&gt;&#10;        &lt;text x=&quot;685&quot; y=&quot;96&quot; textAnchor=&quot;middle&quot; fontSize=&quot;22&quot; fontWeight=&quot;bold&quot; fill=&quot;#111112&quot; fontFamily=&quot;PingFang SC&quot;&gt;手机 Agent&lt;/text&gt;&#10;        &lt;text x=&quot;685&quot; y=&quot;126&quot; textAnchor=&quot;middle&quot; fontSize=&quot;14&quot; fill=&quot;#6E6E73&quot; fontFamily=&quot;PingFang SC&quot;&gt;自动发布到抖音&lt;/text&gt;&#10;        &lt;text x=&quot;685&quot; y=&quot;150&quot; textAnchor=&quot;middle&quot; fontSize=&quot;11&quot; fill=&quot;#B3B3BA&quot; fontFamily=&quot;JetBrains Mono&quot;&gt;STEP 03&lt;/text&gt;&#10;        &lt;path d=&quot;M804 110 L844 110&quot; stroke=&quot;#111112&quot; strokeWidth=&quot;2&quot; fill=&quot;none&quot; /&gt;&#10;        &lt;rect x=&quot;844&quot; y=&quot;50&quot; width=&quot;266&quot; height=&quot;120&quot; rx=&quot;14&quot; fill=&quot;#111112&quot; /&gt;&#10;        &lt;text x=&quot;977&quot; y=&quot;96&quot; textAnchor=&quot;middle&quot; fontSize=&quot;22&quot; fontWeight=&quot;bold&quot; fill=&quot;#FAFAFA&quot; fontFamily=&quot;PingFang SC&quot;&gt;每天 20:00&lt;/text&gt;&#10;        &lt;text x=&quot;977&quot; y=&quot;126&quot; textAnchor=&quot;middle&quot; fontSize=&quot;14&quot; fill=&quot;#B3FFD9&quot; fontFamily=&quot;PingFang SC&quot;&gt;定时自动发，不用再手点&lt;/text&gt;&#10;        &lt;text x=&quot;977&quot; y=&quot;150&quot; textAnchor=&quot;middle&quot; fontSize=&quot;11&quot; fill=&quot;#4CC07A&quot; fontFamily=&quot;JetBrains Mono&quot;&gt;AUTOPILOT&lt;/text&gt;&#10;      &lt;/svg&gt;&#10;    &lt;/Box&gt;&#10;    &lt;Box style={{ flexDirection: 'row', gap: 22, height: 220 }}&gt;&#10;      &lt;Box style={{ flex: 1, background: '#FFFFFF', border: '1px solid #E4E4E7', borderRadius: 14, padding: 24, justifyContent: 'center' }}&gt;&#10;        &lt;Text style={{ fontSize: 20, fontWeight: 'bold', color: '#111112', fontFamily: 'PingFang SC' }}&gt;双通道兜底&lt;/Text&gt;&#10;        &lt;Text style={{ fontSize: 15, color: '#6E6E73', fontFamily: 'PingFang SC', lineHeight: 1.7, marginTop: 8 }}&gt;无障碍 + ADB，一种失败自动切第二种；脚本随机化模拟真人行为，检测点击间隔也很难封。&lt;/Text&gt;&#10;      &lt;/Box&gt;&#10;      &lt;Box style={{ flex: 1, background: '#FFFFFF', border: '1px solid #E4E4E7', borderRadius: 14, padding: 24, justifyContent: 'center' }}&gt;&#10;        &lt;Text style={{ fontSize: 20, fontWeight: 'bold', color: '#111112', fontFamily: 'PingFang SC' }}&gt;真实案例&lt;/Text&gt;&#10;        &lt;Text style={{ fontSize: 15, color: '#6E6E73', fontFamily: 'PingFang SC', lineHeight: 1.7, marginTop: 8 }}&gt;手机一号（美妆博主）写秋季口红测评脚本，已读回结果并确认存进小红书草稿箱。&lt;/Text&gt;&#10;      &lt;/Box&gt;&#10;      &lt;Box style={{ flex: 1, background: '#FFFFFF', border: '1px solid #E4E4E7', borderRadius: 14, padding: 24, justifyContent: 'center' }}&gt;&#10;        &lt;Text style={{ fontSize: 20, fontWeight: 'bold', color: '#111112', fontFamily: 'PingFang SC' }}&gt;对外操作先问你&lt;/Text&gt;&#10;        &lt;Text style={{ fontSize: 15, color: '#6E6E73', fontFamily: 'PingFang SC', lineHeight: 1.7, marginTop: 8 }}&gt;发布、付款、私信这类动作一律先确认；支付页面不截图，失败如实回报。&lt;/Text&gt;&#10;      &lt;/Box&gt;&#10;    &lt;/Box&gt;&#10;  &lt;/Box&gt;&#10;  &lt;Box style={{ height: 60, flexDirection: 'row', alignItems: 'center', justifyContent: 'space-between', borderTop: '1px solid #E4E4E7' }}&gt;&#10;    &lt;Box style={{ flexDirection: 'row', alignItems: 'center', gap: 8 }}&gt;&#10;      &lt;Image src=&quot;assets/lom-logo.png&quot; style={{ height: 20, width: 25 }} /&gt;&#10;      &lt;Text style={{ fontSize: 13, color: '#B3B3BA', fontFamily: 'PingFang SC' }}&gt;麓鸣 Lom · 一人公司操作系统&lt;/Text&gt;&#10;    &lt;/Box&gt;&#10;    &lt;Text style={{ fontSize: 13, color: '#B3B3BA', fontFamily: 'JetBrains Mono' }}&gt;06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p/>
        </p:txBody>
      </p:sp>
      <p:pic>
        <p:nvPicPr>
          <p:cNvPr id="143" name=""/>
          <p:cNvPicPr>
            <a:picLocks noChangeAspect="1"/>
          </p:cNvPicPr>
          <p:nvPr/>
        </p:nvPicPr>
        <p:blipFill>
          <a:blip r:embed="rId1"/>
          <a:srcRect l="116" t="0" r="116" b="0"/>
          <a:stretch>
            <a:fillRect/>
          </a:stretch>
        </p:blipFill>
        <p:spPr>
          <a:xfrm rot="0" flipH="0" flipV="0">
            <a:off x="685800" y="400050"/>
            <a:ext cx="1790700" cy="142875"/>
          </a:xfrm>
          <a:prstGeom prst="rect">
            <a:avLst/>
          </a:prstGeom>
          <a:ln/>
        </p:spPr>
      </p:pic>
      <p:pic>
        <p:nvPicPr>
          <p:cNvPr id="144" name=""/>
          <p:cNvPicPr>
            <a:picLocks noChangeAspect="1"/>
          </p:cNvPicPr>
          <p:nvPr/>
        </p:nvPicPr>
        <p:blipFill>
          <a:blip r:embed="rId2"/>
          <a:srcRect l="136" t="0" r="136" b="0"/>
          <a:stretch>
            <a:fillRect/>
          </a:stretch>
        </p:blipFill>
        <p:spPr>
          <a:xfrm rot="0" flipH="0" flipV="0">
            <a:off x="2571750" y="419100"/>
            <a:ext cx="1390650" cy="114300"/>
          </a:xfrm>
          <a:prstGeom prst="rect">
            <a:avLst/>
          </a:prstGeom>
          <a:ln/>
        </p:spPr>
      </p:pic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85800" y="600075"/>
            <a:ext cx="10820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11112"/>
                </a:solidFill>
                <a:latin typeface="PingFang SC"/>
                <a:ea typeface="PingFang SC"/>
              </a:rPr>
              <a:t xml:space="preserve">LOM </a:t>
            </a:r>
            <a:r>
              <a:rPr lang="zh-CN" sz="2250" b="1">
                <a:solidFill>
                  <a:srgbClr val="111112"/>
                </a:solidFill>
                <a:latin typeface="PingFang SC"/>
                <a:ea typeface="PingFang SC"/>
              </a:rPr>
              <a:t>的</a:t>
            </a:r>
            <a:r>
              <a:rPr lang="en-US" sz="2250" b="1">
                <a:solidFill>
                  <a:srgbClr val="111112"/>
                </a:solidFill>
                <a:latin typeface="PingFang SC"/>
                <a:ea typeface="PingFang SC"/>
              </a:rPr>
              <a:t xml:space="preserve"> Agent</a:t>
            </a:r>
            <a:r>
              <a:rPr lang="zh-CN" sz="2250" b="1">
                <a:solidFill>
                  <a:srgbClr val="111112"/>
                </a:solidFill>
                <a:latin typeface="PingFang SC"/>
                <a:ea typeface="PingFang SC"/>
              </a:rPr>
              <a:t>，有手</a:t>
            </a:r>
            <a:endParaRPr/>
          </a:p>
        </p:txBody>
      </p:sp>
      <p:pic>
        <p:nvPicPr>
          <p:cNvPr id="1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85800" y="1238250"/>
            <a:ext cx="10668000" cy="2286000"/>
          </a:xfrm>
          <a:prstGeom prst="rect">
            <a:avLst/>
          </a:prstGeom>
          <a:ln/>
        </p:spPr>
      </p:pic>
      <p:sp>
        <p:nvSpPr>
          <p:cNvPr id="147" name=""/>
          <p:cNvSpPr/>
          <p:nvPr/>
        </p:nvSpPr>
        <p:spPr>
          <a:xfrm rot="0" flipH="0" flipV="0">
            <a:off x="685800" y="3619500"/>
            <a:ext cx="3467100" cy="209550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914400" y="4219575"/>
            <a:ext cx="3009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11112"/>
                </a:solidFill>
                <a:latin typeface="PingFang SC"/>
                <a:ea typeface="PingFang SC"/>
              </a:rPr>
              <a:t>双通道兜底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914400" y="4524375"/>
            <a:ext cx="30099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无障碍</a:t>
            </a: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 xml:space="preserve"> + ADB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，一种失败自动切第二种；脚本随机化模拟真人行为，检测点击间隔也很难封。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4362450" y="3619500"/>
            <a:ext cx="3467100" cy="209550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4591050" y="4219575"/>
            <a:ext cx="3009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11112"/>
                </a:solidFill>
                <a:latin typeface="PingFang SC"/>
                <a:ea typeface="PingFang SC"/>
              </a:rPr>
              <a:t>真实案例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4591050" y="4524375"/>
            <a:ext cx="30099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手机一号（美妆博主）写秋季口红测评脚本，已读回结果并确认存进小红书草稿箱。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8039100" y="3619500"/>
            <a:ext cx="3467100" cy="209550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267700" y="4219575"/>
            <a:ext cx="3009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11112"/>
                </a:solidFill>
                <a:latin typeface="PingFang SC"/>
                <a:ea typeface="PingFang SC"/>
              </a:rPr>
              <a:t>对外操作先问你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267700" y="4524375"/>
            <a:ext cx="30099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发布、付款、私信这类动作一律先确认；支付页面不截图，失败如实回报。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685800" y="5905500"/>
            <a:ext cx="10820400" cy="571500"/>
          </a:xfrm>
          <a:custGeom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E4E4E7"/>
          </a:solidFill>
          <a:ln/>
        </p:spPr>
        <p:txBody>
          <a:bodyPr/>
          <a:p/>
        </p:txBody>
      </p:sp>
      <p:pic>
        <p:nvPicPr>
          <p:cNvPr id="157" name=""/>
          <p:cNvPicPr>
            <a:picLocks noChangeAspect="1"/>
          </p:cNvPicPr>
          <p:nvPr/>
        </p:nvPicPr>
        <p:blipFill>
          <a:blip r:embed="rId4"/>
          <a:srcRect l="0" t="810" r="0" b="810"/>
          <a:stretch>
            <a:fillRect/>
          </a:stretch>
        </p:blipFill>
        <p:spPr>
          <a:xfrm rot="0" flipH="0" flipV="0">
            <a:off x="685800" y="6105525"/>
            <a:ext cx="238125" cy="190500"/>
          </a:xfrm>
          <a:prstGeom prst="rect">
            <a:avLst/>
          </a:prstGeom>
          <a:ln/>
        </p:spPr>
      </p:pic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000125" y="6124575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3B3BA"/>
                </a:solidFill>
                <a:latin typeface="PingFang SC"/>
                <a:ea typeface="PingFang SC"/>
              </a:rPr>
              <a:t>麓鸣</a:t>
            </a:r>
            <a:r>
              <a:rPr lang="en-US" sz="975">
                <a:solidFill>
                  <a:srgbClr val="B3B3BA"/>
                </a:solidFill>
                <a:latin typeface="PingFang SC"/>
                <a:ea typeface="PingFang SC"/>
              </a:rPr>
              <a:t xml:space="preserve"> Lom · </a:t>
            </a:r>
            <a:r>
              <a:rPr lang="zh-CN" sz="975">
                <a:solidFill>
                  <a:srgbClr val="B3B3BA"/>
                </a:solidFill>
                <a:latin typeface="PingFang SC"/>
                <a:ea typeface="PingFang SC"/>
              </a:rPr>
              <a:t>一人公司操作系统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1125200" y="61245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B3B3BA"/>
                </a:solidFill>
                <a:latin typeface="JetBrains Mono"/>
                <a:ea typeface="JetBrains Mono"/>
              </a:rPr>
              <a:t>06 / 10</a:t>
            </a:r>
            <a:endParaRPr/>
          </a:p>
        </p:txBody>
      </p:sp>
    </p:spTree>
  </p:cSld>
</p:sld>
</file>

<file path=ppt/slides/slide7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60" name="" descr="&lt;Slide style={{ width: 1280, height: 720, background: '#FAFAFA', paddingTop: 20, paddingRight: 72, paddingBottom: 20, paddingLeft: 72, flexDirection: 'column' }}&gt;&#10;  &lt;Box style={{ height: 100, justifyContent: 'center', flexDirection: 'column' }}&gt;&#10;    &lt;Box style={{ flexDirection: 'row', alignItems: 'center', gap: 10, marginBottom: 6 }}&gt;&#10;      &lt;Image src=&quot;assets/logo-strip.png&quot; style={{ height: 15, width: 188 }} /&gt;&#10;      &lt;Image src=&quot;assets/badge.png&quot; style={{ height: 12, width: 146 }} /&gt;&#10;    &lt;/Box&gt;&#10;    &lt;Text style={{ fontSize: 30, fontWeight: 'bold', color: '#111112', fontFamily: 'PingFang SC' }}&gt;上限高，下限也高&lt;/Text&gt;&#10;  &lt;/Box&gt;&#10;  &lt;Box style={{ height: 500, flexDirection: 'row' }}&gt;&#10;    &lt;Box style={{ width: 420, flexDirection: 'column', justifyContent: 'space-between', borderRight: '1px solid #E4E4E7', paddingRight: 30, paddingTop: 10, paddingBottom: 10 }}&gt;&#10;      &lt;Text style={{ fontSize: 118, fontWeight: 'bold', color: '#111112', fontFamily: 'JetBrains Mono', lineHeight: 1 }}&gt;40+&lt;/Text&gt;&#10;      &lt;Text style={{ fontSize: 24, fontWeight: 'bold', color: '#111112', fontFamily: 'PingFang SC', marginTop: 10 }}&gt;种电脑 Agent 直接接入&lt;/Text&gt;&#10;      &lt;Text style={{ fontSize: 14, color: '#6E6E73', fontFamily: 'JetBrains Mono', lineHeight: 1.9, marginTop: 16 }}&gt;Codex / Claude Code / Kimi&lt;br /&gt;Qoder / CodeBuddy / Gemini CLI&lt;br /&gt;Cursor / Copilot / Hermes …&lt;/Text&gt;&#10;      &lt;Text style={{ fontSize: 14, color: '#6E6E73', fontFamily: 'PingFang SC', lineHeight: 1.7, marginTop: 14 }}&gt;接进来不算本事，串成一条流水线才算。&lt;/Text&gt;&#10;    &lt;/Box&gt;&#10;    &lt;Box style={{ flex: 1, flexDirection: 'column', gap: 18, marginLeft: 36, justifyContent: 'center' }}&gt;&#10;      &lt;Box style={{ background: '#FFFFFF', border: '1px solid #E4E4E7', borderRadius: 14, padding: 22 }}&gt;&#10;        &lt;Text style={{ fontSize: 20, fontWeight: 'bold', color: '#111112', fontFamily: 'PingFang SC' }}&gt;会话接力&lt;/Text&gt;&#10;        &lt;Text style={{ fontSize: 15, color: '#6E6E73', fontFamily: 'PingFang SC', lineHeight: 1.65, marginTop: 6 }}&gt;一键导入 Codex、Claude Code 的会话，当作上下文引用——这个工具干一半，那个接着干。&lt;/Text&gt;&#10;      &lt;/Box&gt;&#10;      &lt;Box style={{ background: '#FFFFFF', border: '1px solid #E4E4E7', borderRadius: 14, padding: 22 }}&gt;&#10;        &lt;Text style={{ fontSize: 20, fontWeight: 'bold', color: '#111112', fontFamily: 'PingFang SC' }}&gt;模型自由&lt;/Text&gt;&#10;        &lt;Text style={{ fontSize: 15, color: '#6E6E73', fontFamily: 'PingFang SC', lineHeight: 1.65, marginTop: 6 }}&gt;内置 Lom Pro / Max / Mini，也可填自己的 API Key；DeepSeek、OpenAI、Claude、Kimi、通义均可。&lt;/Text&gt;&#10;      &lt;/Box&gt;&#10;      &lt;Box style={{ background: '#FFFFFF', border: '1px solid #E4E4E7', borderRadius: 14, padding: 22 }}&gt;&#10;        &lt;Text style={{ fontSize: 20, fontWeight: 'bold', color: '#111112', fontFamily: 'PingFang SC' }}&gt;桌面端已开源&lt;/Text&gt;&#10;        &lt;Text style={{ fontSize: 15, color: '#6E6E73', fontFamily: 'PingFang SC', lineHeight: 1.65, marginTop: 6 }}&gt;AGPL-3.0，GitHub 可查：github.com/rfdiosuao/lom-desktop。端到端加密，只转发密文。&lt;/Text&gt;&#10;      &lt;/Box&gt;&#10;    &lt;/Box&gt;&#10;  &lt;/Box&gt;&#10;  &lt;Box style={{ height: 60, flexDirection: 'row', alignItems: 'center', justifyContent: 'space-between', borderTop: '1px solid #E4E4E7' }}&gt;&#10;    &lt;Box style={{ flexDirection: 'row', alignItems: 'center', gap: 8 }}&gt;&#10;      &lt;Image src=&quot;assets/lom-logo.png&quot; style={{ height: 20, width: 25 }} /&gt;&#10;      &lt;Text style={{ fontSize: 13, color: '#B3B3BA', fontFamily: 'PingFang SC' }}&gt;麓鸣 Lom · 一人公司操作系统&lt;/Text&gt;&#10;    &lt;/Box&gt;&#10;    &lt;Text style={{ fontSize: 13, color: '#B3B3BA', fontFamily: 'JetBrains Mono' }}&gt;07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p/>
        </p:txBody>
      </p:sp>
      <p:pic>
        <p:nvPicPr>
          <p:cNvPr id="162" name=""/>
          <p:cNvPicPr>
            <a:picLocks noChangeAspect="1"/>
          </p:cNvPicPr>
          <p:nvPr/>
        </p:nvPicPr>
        <p:blipFill>
          <a:blip r:embed="rId1"/>
          <a:srcRect l="116" t="0" r="116" b="0"/>
          <a:stretch>
            <a:fillRect/>
          </a:stretch>
        </p:blipFill>
        <p:spPr>
          <a:xfrm rot="0" flipH="0" flipV="0">
            <a:off x="685800" y="400050"/>
            <a:ext cx="1790700" cy="142875"/>
          </a:xfrm>
          <a:prstGeom prst="rect">
            <a:avLst/>
          </a:prstGeom>
          <a:ln/>
        </p:spPr>
      </p:pic>
      <p:pic>
        <p:nvPicPr>
          <p:cNvPr id="163" name=""/>
          <p:cNvPicPr>
            <a:picLocks noChangeAspect="1"/>
          </p:cNvPicPr>
          <p:nvPr/>
        </p:nvPicPr>
        <p:blipFill>
          <a:blip r:embed="rId2"/>
          <a:srcRect l="136" t="0" r="136" b="0"/>
          <a:stretch>
            <a:fillRect/>
          </a:stretch>
        </p:blipFill>
        <p:spPr>
          <a:xfrm rot="0" flipH="0" flipV="0">
            <a:off x="2571750" y="419100"/>
            <a:ext cx="1390650" cy="114300"/>
          </a:xfrm>
          <a:prstGeom prst="rect">
            <a:avLst/>
          </a:prstGeom>
          <a:ln/>
        </p:spPr>
      </p:pic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85800" y="600075"/>
            <a:ext cx="10820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11112"/>
                </a:solidFill>
                <a:latin typeface="PingFang SC"/>
                <a:ea typeface="PingFang SC"/>
              </a:rPr>
              <a:t>上限高，下限也高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85800" y="1143000"/>
            <a:ext cx="4000500" cy="4762500"/>
          </a:xfrm>
          <a:custGeom>
            <a:pathLst>
              <a:path w="420" h="500">
                <a:moveTo>
                  <a:pt x="419" y="0"/>
                </a:moveTo>
                <a:lnTo>
                  <a:pt x="420" y="0"/>
                </a:lnTo>
                <a:lnTo>
                  <a:pt x="420" y="500"/>
                </a:lnTo>
                <a:lnTo>
                  <a:pt x="419" y="500"/>
                </a:lnTo>
                <a:close/>
              </a:path>
            </a:pathLst>
          </a:custGeom>
          <a:solidFill>
            <a:srgbClr val="E4E4E7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85800" y="1238250"/>
            <a:ext cx="3705225" cy="1352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850" b="1">
                <a:solidFill>
                  <a:srgbClr val="111112"/>
                </a:solidFill>
                <a:latin typeface="JetBrains Mono"/>
                <a:ea typeface="JetBrains Mono"/>
              </a:rPr>
              <a:t>40+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85800" y="3143250"/>
            <a:ext cx="3705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11112"/>
                </a:solidFill>
                <a:latin typeface="PingFang SC"/>
                <a:ea typeface="PingFang SC"/>
              </a:rPr>
              <a:t>种电脑</a:t>
            </a:r>
            <a:r>
              <a:rPr lang="en-US" sz="1800" b="1">
                <a:solidFill>
                  <a:srgbClr val="111112"/>
                </a:solidFill>
                <a:latin typeface="PingFang SC"/>
                <a:ea typeface="PingFang SC"/>
              </a:rPr>
              <a:t xml:space="preserve"> Agent </a:t>
            </a:r>
            <a:r>
              <a:rPr lang="zh-CN" sz="1800" b="1">
                <a:solidFill>
                  <a:srgbClr val="111112"/>
                </a:solidFill>
                <a:latin typeface="PingFang SC"/>
                <a:ea typeface="PingFang SC"/>
              </a:rPr>
              <a:t>直接接入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85800" y="4029075"/>
            <a:ext cx="3705225" cy="9144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6E6E73"/>
                </a:solidFill>
                <a:latin typeface="JetBrains Mono"/>
                <a:ea typeface="JetBrains Mono"/>
              </a:rPr>
              <a:t>Codex / Claude Code / Kimi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6E6E73"/>
                </a:solidFill>
                <a:latin typeface="JetBrains Mono"/>
                <a:ea typeface="JetBrains Mono"/>
              </a:rPr>
              <a:t>Qoder / CodeBuddy / Gemini CLI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6E6E73"/>
                </a:solidFill>
                <a:latin typeface="JetBrains Mono"/>
                <a:ea typeface="JetBrains Mono"/>
              </a:rPr>
              <a:t>Cursor / Copilot / Hermes …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85800" y="5534025"/>
            <a:ext cx="3705225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E6E73"/>
                </a:solidFill>
                <a:latin typeface="PingFang SC"/>
                <a:ea typeface="PingFang SC"/>
              </a:rPr>
              <a:t>接进来不算本事，串成一条流水线才算。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5029200" y="1724025"/>
            <a:ext cx="647700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238750" y="1933575"/>
            <a:ext cx="6057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11112"/>
                </a:solidFill>
                <a:latin typeface="PingFang SC"/>
                <a:ea typeface="PingFang SC"/>
              </a:rPr>
              <a:t>会话接力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238750" y="2219325"/>
            <a:ext cx="60579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一键导入</a:t>
            </a: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 xml:space="preserve"> Codex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、</a:t>
            </a: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 xml:space="preserve">Claude Code 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的会话，当作上下文引用——这个工具干一半，那个接着干。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5029200" y="2886075"/>
            <a:ext cx="6477000" cy="1276350"/>
          </a:xfrm>
          <a:prstGeom prst="roundRect">
            <a:avLst>
              <a:gd name="adj" fmla="val 10448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5238750" y="3095625"/>
            <a:ext cx="6057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11112"/>
                </a:solidFill>
                <a:latin typeface="PingFang SC"/>
                <a:ea typeface="PingFang SC"/>
              </a:rPr>
              <a:t>模型自由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238750" y="3381375"/>
            <a:ext cx="60579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内置</a:t>
            </a: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 xml:space="preserve"> Lom Pro / Max / Mini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，也可填自己的</a:t>
            </a: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 xml:space="preserve"> API Key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；</a:t>
            </a: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>DeepSeek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、</a:t>
            </a: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>OpenAI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、</a:t>
            </a: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>Claude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、</a:t>
            </a: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>Kimi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、通义均可。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5029200" y="4333875"/>
            <a:ext cx="647700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5238750" y="4543425"/>
            <a:ext cx="6057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11112"/>
                </a:solidFill>
                <a:latin typeface="PingFang SC"/>
                <a:ea typeface="PingFang SC"/>
              </a:rPr>
              <a:t>桌面端已开源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5238750" y="4829175"/>
            <a:ext cx="60579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>AGPL-3.0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，</a:t>
            </a: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 xml:space="preserve">GitHub 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可查：</a:t>
            </a: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>github.com/rfdiosuao/lom-desktop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。端到端加密，只转发密文。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85800" y="5905500"/>
            <a:ext cx="10820400" cy="571500"/>
          </a:xfrm>
          <a:custGeom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E4E4E7"/>
          </a:solidFill>
          <a:ln/>
        </p:spPr>
        <p:txBody>
          <a:bodyPr/>
          <a:p/>
        </p:txBody>
      </p:sp>
      <p:pic>
        <p:nvPicPr>
          <p:cNvPr id="180" name=""/>
          <p:cNvPicPr>
            <a:picLocks noChangeAspect="1"/>
          </p:cNvPicPr>
          <p:nvPr/>
        </p:nvPicPr>
        <p:blipFill>
          <a:blip r:embed="rId3"/>
          <a:srcRect l="0" t="810" r="0" b="810"/>
          <a:stretch>
            <a:fillRect/>
          </a:stretch>
        </p:blipFill>
        <p:spPr>
          <a:xfrm rot="0" flipH="0" flipV="0">
            <a:off x="685800" y="6105525"/>
            <a:ext cx="238125" cy="190500"/>
          </a:xfrm>
          <a:prstGeom prst="rect">
            <a:avLst/>
          </a:prstGeom>
          <a:ln/>
        </p:spPr>
      </p:pic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000125" y="6124575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3B3BA"/>
                </a:solidFill>
                <a:latin typeface="PingFang SC"/>
                <a:ea typeface="PingFang SC"/>
              </a:rPr>
              <a:t>麓鸣</a:t>
            </a:r>
            <a:r>
              <a:rPr lang="en-US" sz="975">
                <a:solidFill>
                  <a:srgbClr val="B3B3BA"/>
                </a:solidFill>
                <a:latin typeface="PingFang SC"/>
                <a:ea typeface="PingFang SC"/>
              </a:rPr>
              <a:t xml:space="preserve"> Lom · </a:t>
            </a:r>
            <a:r>
              <a:rPr lang="zh-CN" sz="975">
                <a:solidFill>
                  <a:srgbClr val="B3B3BA"/>
                </a:solidFill>
                <a:latin typeface="PingFang SC"/>
                <a:ea typeface="PingFang SC"/>
              </a:rPr>
              <a:t>一人公司操作系统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1125200" y="61245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B3B3BA"/>
                </a:solidFill>
                <a:latin typeface="JetBrains Mono"/>
                <a:ea typeface="JetBrains Mono"/>
              </a:rPr>
              <a:t>07 / 10</a:t>
            </a:r>
            <a:endParaRPr/>
          </a:p>
        </p:txBody>
      </p:sp>
    </p:spTree>
  </p:cSld>
</p:sld>
</file>

<file path=ppt/slides/slide8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83" name="" descr="&lt;Slide style={{ width: 1280, height: 720, background: '#FAFAFA', paddingTop: 20, paddingRight: 72, paddingBottom: 20, paddingLeft: 72, flexDirection: 'column' }}&gt;&#10;  &lt;Box style={{ height: 100, justifyContent: 'center', flexDirection: 'column' }}&gt;&#10;    &lt;Box style={{ flexDirection: 'row', alignItems: 'center', gap: 10, marginBottom: 6 }}&gt;&#10;      &lt;Image src=&quot;assets/logo-strip.png&quot; style={{ height: 15, width: 188 }} /&gt;&#10;      &lt;Image src=&quot;assets/badge.png&quot; style={{ height: 12, width: 146 }} /&gt;&#10;    &lt;/Box&gt;&#10;    &lt;Text style={{ fontSize: 30, fontWeight: 'bold', color: '#111112', fontFamily: 'PingFang SC' }}&gt;换个客户，不用重新定制&lt;/Text&gt;&#10;  &lt;/Box&gt;&#10;  &lt;Box style={{ height: 500, flexDirection: 'row' }}&gt;&#10;    &lt;Box style={{ width: 610, flexDirection: 'column', gap: 16 }}&gt;&#10;      &lt;Box style={{ flex: 1, background: '#FFFFFF', border: '1px solid #E4E4E7', borderRadius: 14, padding: 20, justifyContent: 'center' }}&gt;&#10;        &lt;Text style={{ fontSize: 14, color: '#B3B3BA', fontFamily: 'PingFang SC' }}&gt;痛点&lt;/Text&gt;&#10;        &lt;Text style={{ fontSize: 19, color: '#111112', fontFamily: 'PingFang SC', fontWeight: 'bold', marginTop: 4 }}&gt;策划靠 AI，落地靠人手点&lt;/Text&gt;&#10;        &lt;Text style={{ fontSize: 16, color: '#1F8A4C', fontFamily: 'PingFang SC', marginTop: 10, lineHeight: 1.5 }}&gt;→ 手机 Agent 直接交付，最后一公里不用人&lt;/Text&gt;&#10;      &lt;/Box&gt;&#10;      &lt;Box style={{ flex: 1, background: '#FFFFFF', border: '1px solid #E4E4E7', borderRadius: 14, padding: 20, justifyContent: 'center' }}&gt;&#10;        &lt;Text style={{ fontSize: 14, color: '#B3B3BA', fontFamily: 'PingFang SC' }}&gt;痛点&lt;/Text&gt;&#10;        &lt;Text style={{ fontSize: 19, color: '#111112', fontFamily: 'PingFang SC', fontWeight: 'bold', marginTop: 4 }}&gt;换个客户，还要重新定制系统&lt;/Text&gt;&#10;        &lt;Text style={{ fontSize: 16, color: '#1F8A4C', fontFamily: 'PingFang SC', marginTop: 10, lineHeight: 1.5 }}&gt;→ 写一套 Skill 固化流程，接上飞书、文档、文案，教会老板用&lt;/Text&gt;&#10;      &lt;/Box&gt;&#10;      &lt;Box style={{ flex: 1, background: '#111112', borderRadius: 14, padding: 20, justifyContent: 'center' }}&gt;&#10;        &lt;Text style={{ fontSize: 14, color: '#B3B3BA', fontFamily: 'PingFang SC' }}&gt;剩下的事&lt;/Text&gt;&#10;        &lt;Text style={{ fontSize: 21, color: '#FAFAFA', fontFamily: 'PingFang SC', fontWeight: 'bold', marginTop: 6 }}&gt;由麓鸣执行，不用再定制。&lt;/Text&gt;&#10;      &lt;/Box&gt;&#10;    &lt;/Box&gt;&#10;    &lt;Box style={{ flex: 1, marginLeft: 30, flexDirection: 'column', gap: 16 }}&gt;&#10;      &lt;Box style={{ flex: 1, background: '#FFFFFF', border: '1px solid #E4E4E7', borderRadius: 14, padding: 20 }}&gt;&#10;        &lt;Text style={{ fontSize: 13, color: '#6E6E73', fontFamily: 'JetBrains Mono', letterSpacing: 1 }}&gt;服务链五环&lt;/Text&gt;&#10;        &lt;Text style={{ fontSize: 14, color: '#111112', fontFamily: 'PingFang SC', lineHeight: 1.95, marginTop: 6 }}&gt;接需 · 情报定位客户&lt;br /&gt;生产 · Codex + 文案&lt;br /&gt;交付 · 手机 Agent&lt;br /&gt;售后 · 客服 + 评论区&lt;br /&gt;守夜 · 麓鸣网安 Agent&lt;/Text&gt;&#10;      &lt;/Box&gt;&#10;      &lt;Box style={{ flex: 1, background: '#FFFFFF', border: '1px solid #E4E4E7', borderRadius: 14, padding: 20 }}&gt;&#10;        &lt;Text style={{ fontSize: 13, color: '#6E6E73', fontFamily: 'JetBrains Mono', letterSpacing: 1 }}&gt;收费三档&lt;/Text&gt;&#10;        &lt;Text style={{ fontSize: 14, color: '#111112', fontFamily: 'PingFang SC', lineHeight: 1.95, marginTop: 6 }}&gt;① 席位订阅 · 免费版可接 1 台手机&lt;br /&gt;② 按单抽成 · 交付单约定比例&lt;br /&gt;③ 赛事期 · 给评委免费跑一单&lt;/Text&gt;&#10;        &lt;Text style={{ fontSize: 12, color: '#6E6E73', fontFamily: 'PingFang SC', lineHeight: 1.6, marginTop: 8 }}&gt;软件免费下载；内置模型按积分计费，也可填自己的 API Key。&lt;/Text&gt;&#10;      &lt;/Box&gt;&#10;    &lt;/Box&gt;&#10;  &lt;/Box&gt;&#10;  &lt;Box style={{ height: 60, flexDirection: 'row', alignItems: 'center', justifyContent: 'space-between', borderTop: '1px solid #E4E4E7' }}&gt;&#10;    &lt;Box style={{ flexDirection: 'row', alignItems: 'center', gap: 8 }}&gt;&#10;      &lt;Image src=&quot;assets/lom-logo.png&quot; style={{ height: 20, width: 25 }} /&gt;&#10;      &lt;Text style={{ fontSize: 13, color: '#B3B3BA', fontFamily: 'PingFang SC' }}&gt;麓鸣 Lom · 一人公司操作系统&lt;/Text&gt;&#10;    &lt;/Box&gt;&#10;    &lt;Text style={{ fontSize: 13, color: '#B3B3BA', fontFamily: 'JetBrains Mono' }}&gt;08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p/>
        </p:txBody>
      </p:sp>
      <p:pic>
        <p:nvPicPr>
          <p:cNvPr id="185" name=""/>
          <p:cNvPicPr>
            <a:picLocks noChangeAspect="1"/>
          </p:cNvPicPr>
          <p:nvPr/>
        </p:nvPicPr>
        <p:blipFill>
          <a:blip r:embed="rId1"/>
          <a:srcRect l="116" t="0" r="116" b="0"/>
          <a:stretch>
            <a:fillRect/>
          </a:stretch>
        </p:blipFill>
        <p:spPr>
          <a:xfrm rot="0" flipH="0" flipV="0">
            <a:off x="685800" y="400050"/>
            <a:ext cx="1790700" cy="142875"/>
          </a:xfrm>
          <a:prstGeom prst="rect">
            <a:avLst/>
          </a:prstGeom>
          <a:ln/>
        </p:spPr>
      </p:pic>
      <p:pic>
        <p:nvPicPr>
          <p:cNvPr id="186" name=""/>
          <p:cNvPicPr>
            <a:picLocks noChangeAspect="1"/>
          </p:cNvPicPr>
          <p:nvPr/>
        </p:nvPicPr>
        <p:blipFill>
          <a:blip r:embed="rId2"/>
          <a:srcRect l="136" t="0" r="136" b="0"/>
          <a:stretch>
            <a:fillRect/>
          </a:stretch>
        </p:blipFill>
        <p:spPr>
          <a:xfrm rot="0" flipH="0" flipV="0">
            <a:off x="2571750" y="419100"/>
            <a:ext cx="1390650" cy="114300"/>
          </a:xfrm>
          <a:prstGeom prst="rect">
            <a:avLst/>
          </a:prstGeom>
          <a:ln/>
        </p:spPr>
      </p:pic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85800" y="600075"/>
            <a:ext cx="10820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11112"/>
                </a:solidFill>
                <a:latin typeface="PingFang SC"/>
                <a:ea typeface="PingFang SC"/>
              </a:rPr>
              <a:t>换个客户，不用重新定制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85800" y="1143000"/>
            <a:ext cx="5810250" cy="1590675"/>
          </a:xfrm>
          <a:prstGeom prst="roundRect">
            <a:avLst>
              <a:gd name="adj" fmla="val 838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76300" y="1543050"/>
            <a:ext cx="5429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3B3BA"/>
                </a:solidFill>
                <a:latin typeface="PingFang SC"/>
                <a:ea typeface="PingFang SC"/>
              </a:rPr>
              <a:t>痛点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76300" y="1743075"/>
            <a:ext cx="5429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11112"/>
                </a:solidFill>
                <a:latin typeface="PingFang SC"/>
                <a:ea typeface="PingFang SC"/>
              </a:rPr>
              <a:t>策划靠</a:t>
            </a:r>
            <a:r>
              <a:rPr lang="en-US" sz="1425" b="1">
                <a:solidFill>
                  <a:srgbClr val="111112"/>
                </a:solidFill>
                <a:latin typeface="PingFang SC"/>
                <a:ea typeface="PingFang SC"/>
              </a:rPr>
              <a:t xml:space="preserve"> AI</a:t>
            </a:r>
            <a:r>
              <a:rPr lang="zh-CN" sz="1425" b="1">
                <a:solidFill>
                  <a:srgbClr val="111112"/>
                </a:solidFill>
                <a:latin typeface="PingFang SC"/>
                <a:ea typeface="PingFang SC"/>
              </a:rPr>
              <a:t>，落地靠人手点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76300" y="2057400"/>
            <a:ext cx="5429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F8A4C"/>
                </a:solidFill>
                <a:latin typeface="PingFang SC"/>
                <a:ea typeface="PingFang SC"/>
              </a:rPr>
              <a:t xml:space="preserve">→ </a:t>
            </a:r>
            <a:r>
              <a:rPr lang="zh-CN" sz="1200">
                <a:solidFill>
                  <a:srgbClr val="1F8A4C"/>
                </a:solidFill>
                <a:latin typeface="PingFang SC"/>
                <a:ea typeface="PingFang SC"/>
              </a:rPr>
              <a:t>手机</a:t>
            </a:r>
            <a:r>
              <a:rPr lang="en-US" sz="1200">
                <a:solidFill>
                  <a:srgbClr val="1F8A4C"/>
                </a:solidFill>
                <a:latin typeface="PingFang SC"/>
                <a:ea typeface="PingFang SC"/>
              </a:rPr>
              <a:t xml:space="preserve"> Agent </a:t>
            </a:r>
            <a:r>
              <a:rPr lang="zh-CN" sz="1200">
                <a:solidFill>
                  <a:srgbClr val="1F8A4C"/>
                </a:solidFill>
                <a:latin typeface="PingFang SC"/>
                <a:ea typeface="PingFang SC"/>
              </a:rPr>
              <a:t>直接交付，最后一公里不用人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85800" y="2886075"/>
            <a:ext cx="5810250" cy="1600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76300" y="3295650"/>
            <a:ext cx="5429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3B3BA"/>
                </a:solidFill>
                <a:latin typeface="PingFang SC"/>
                <a:ea typeface="PingFang SC"/>
              </a:rPr>
              <a:t>痛点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76300" y="3495675"/>
            <a:ext cx="5429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11112"/>
                </a:solidFill>
                <a:latin typeface="PingFang SC"/>
                <a:ea typeface="PingFang SC"/>
              </a:rPr>
              <a:t>换个客户，还要重新定制系统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76300" y="3810000"/>
            <a:ext cx="5429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F8A4C"/>
                </a:solidFill>
                <a:latin typeface="PingFang SC"/>
                <a:ea typeface="PingFang SC"/>
              </a:rPr>
              <a:t xml:space="preserve">→ </a:t>
            </a:r>
            <a:r>
              <a:rPr lang="zh-CN" sz="1200">
                <a:solidFill>
                  <a:srgbClr val="1F8A4C"/>
                </a:solidFill>
                <a:latin typeface="PingFang SC"/>
                <a:ea typeface="PingFang SC"/>
              </a:rPr>
              <a:t>写一套</a:t>
            </a:r>
            <a:r>
              <a:rPr lang="en-US" sz="1200">
                <a:solidFill>
                  <a:srgbClr val="1F8A4C"/>
                </a:solidFill>
                <a:latin typeface="PingFang SC"/>
                <a:ea typeface="PingFang SC"/>
              </a:rPr>
              <a:t xml:space="preserve"> Skill </a:t>
            </a:r>
            <a:r>
              <a:rPr lang="zh-CN" sz="1200">
                <a:solidFill>
                  <a:srgbClr val="1F8A4C"/>
                </a:solidFill>
                <a:latin typeface="PingFang SC"/>
                <a:ea typeface="PingFang SC"/>
              </a:rPr>
              <a:t>固化流程，接上飞书、文档、文案，教会老板用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685800" y="4638675"/>
            <a:ext cx="5810250" cy="1266825"/>
          </a:xfrm>
          <a:prstGeom prst="roundRect">
            <a:avLst>
              <a:gd name="adj" fmla="val 10526"/>
            </a:avLst>
          </a:prstGeom>
          <a:solidFill>
            <a:srgbClr val="111112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76300" y="5038725"/>
            <a:ext cx="5429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3B3BA"/>
                </a:solidFill>
                <a:latin typeface="PingFang SC"/>
                <a:ea typeface="PingFang SC"/>
              </a:rPr>
              <a:t>剩下的事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76300" y="5257800"/>
            <a:ext cx="5429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AFAFA"/>
                </a:solidFill>
                <a:latin typeface="PingFang SC"/>
                <a:ea typeface="PingFang SC"/>
              </a:rPr>
              <a:t>由麓鸣执行，不用再定制。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6781800" y="1143000"/>
            <a:ext cx="4724400" cy="2466975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972300" y="1333500"/>
            <a:ext cx="434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6E6E73"/>
                </a:solidFill>
                <a:latin typeface="JetBrains Mono"/>
                <a:ea typeface="JetBrains Mono"/>
              </a:rPr>
              <a:t>服务链五环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972300" y="1543050"/>
            <a:ext cx="4343400" cy="1562100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接需</a:t>
            </a:r>
            <a:r>
              <a:rPr lang="en-US" sz="1050">
                <a:solidFill>
                  <a:srgbClr val="111112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情报定位客户</a:t>
            </a:r>
            <a:endParaRPr/>
          </a:p>
          <a:p>
            <a:pPr>
              <a:lnSpc>
                <a:spcPct val="195000"/>
              </a:lnSpc>
            </a:pP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生产</a:t>
            </a:r>
            <a:r>
              <a:rPr lang="en-US" sz="1050">
                <a:solidFill>
                  <a:srgbClr val="111112"/>
                </a:solidFill>
                <a:latin typeface="PingFang SC"/>
                <a:ea typeface="PingFang SC"/>
              </a:rPr>
              <a:t xml:space="preserve"> · Codex + </a:t>
            </a: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文案</a:t>
            </a:r>
            <a:endParaRPr/>
          </a:p>
          <a:p>
            <a:pPr>
              <a:lnSpc>
                <a:spcPct val="195000"/>
              </a:lnSpc>
            </a:pP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交付</a:t>
            </a:r>
            <a:r>
              <a:rPr lang="en-US" sz="1050">
                <a:solidFill>
                  <a:srgbClr val="111112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手机</a:t>
            </a:r>
            <a:r>
              <a:rPr lang="en-US" sz="1050">
                <a:solidFill>
                  <a:srgbClr val="111112"/>
                </a:solidFill>
                <a:latin typeface="PingFang SC"/>
                <a:ea typeface="PingFang SC"/>
              </a:rPr>
              <a:t xml:space="preserve"> Agent</a:t>
            </a:r>
            <a:endParaRPr/>
          </a:p>
          <a:p>
            <a:pPr>
              <a:lnSpc>
                <a:spcPct val="195000"/>
              </a:lnSpc>
            </a:pP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售后</a:t>
            </a:r>
            <a:r>
              <a:rPr lang="en-US" sz="1050">
                <a:solidFill>
                  <a:srgbClr val="111112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客服</a:t>
            </a:r>
            <a:r>
              <a:rPr lang="en-US" sz="1050">
                <a:solidFill>
                  <a:srgbClr val="111112"/>
                </a:solidFill>
                <a:latin typeface="PingFang SC"/>
                <a:ea typeface="PingFang SC"/>
              </a:rPr>
              <a:t xml:space="preserve"> + </a:t>
            </a: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评论区</a:t>
            </a:r>
            <a:endParaRPr/>
          </a:p>
          <a:p>
            <a:pPr>
              <a:lnSpc>
                <a:spcPct val="195000"/>
              </a:lnSpc>
            </a:pP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守夜</a:t>
            </a:r>
            <a:r>
              <a:rPr lang="en-US" sz="1050">
                <a:solidFill>
                  <a:srgbClr val="111112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麓鸣网安</a:t>
            </a:r>
            <a:r>
              <a:rPr lang="en-US" sz="1050">
                <a:solidFill>
                  <a:srgbClr val="111112"/>
                </a:solidFill>
                <a:latin typeface="PingFang SC"/>
                <a:ea typeface="PingFang SC"/>
              </a:rPr>
              <a:t xml:space="preserve"> Agent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6781800" y="3762375"/>
            <a:ext cx="4724400" cy="2143125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972300" y="3952875"/>
            <a:ext cx="434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6E6E73"/>
                </a:solidFill>
                <a:latin typeface="JetBrains Mono"/>
                <a:ea typeface="JetBrains Mono"/>
              </a:rPr>
              <a:t>收费三档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972300" y="4162425"/>
            <a:ext cx="4343400" cy="94297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en-US" sz="1050">
                <a:solidFill>
                  <a:srgbClr val="111112"/>
                </a:solidFill>
                <a:latin typeface="PingFang SC"/>
                <a:ea typeface="PingFang SC"/>
              </a:rPr>
              <a:t xml:space="preserve">① </a:t>
            </a: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席位订阅</a:t>
            </a:r>
            <a:r>
              <a:rPr lang="en-US" sz="1050">
                <a:solidFill>
                  <a:srgbClr val="111112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免费版可接</a:t>
            </a:r>
            <a:r>
              <a:rPr lang="en-US" sz="1050">
                <a:solidFill>
                  <a:srgbClr val="111112"/>
                </a:solidFill>
                <a:latin typeface="PingFang SC"/>
                <a:ea typeface="PingFang SC"/>
              </a:rPr>
              <a:t xml:space="preserve"> 1 </a:t>
            </a: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台手机</a:t>
            </a:r>
            <a:endParaRPr/>
          </a:p>
          <a:p>
            <a:pPr>
              <a:lnSpc>
                <a:spcPct val="195000"/>
              </a:lnSpc>
            </a:pPr>
            <a:r>
              <a:rPr lang="en-US" sz="1050">
                <a:solidFill>
                  <a:srgbClr val="111112"/>
                </a:solidFill>
                <a:latin typeface="PingFang SC"/>
                <a:ea typeface="PingFang SC"/>
              </a:rPr>
              <a:t xml:space="preserve">② </a:t>
            </a: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按单抽成</a:t>
            </a:r>
            <a:r>
              <a:rPr lang="en-US" sz="1050">
                <a:solidFill>
                  <a:srgbClr val="111112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交付单约定比例</a:t>
            </a:r>
            <a:endParaRPr/>
          </a:p>
          <a:p>
            <a:pPr>
              <a:lnSpc>
                <a:spcPct val="195000"/>
              </a:lnSpc>
            </a:pPr>
            <a:r>
              <a:rPr lang="en-US" sz="1050">
                <a:solidFill>
                  <a:srgbClr val="111112"/>
                </a:solidFill>
                <a:latin typeface="PingFang SC"/>
                <a:ea typeface="PingFang SC"/>
              </a:rPr>
              <a:t xml:space="preserve">③ </a:t>
            </a: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赛事期</a:t>
            </a:r>
            <a:r>
              <a:rPr lang="en-US" sz="1050">
                <a:solidFill>
                  <a:srgbClr val="111112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给评委免费跑一单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972300" y="5181600"/>
            <a:ext cx="43434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6E6E73"/>
                </a:solidFill>
                <a:latin typeface="PingFang SC"/>
                <a:ea typeface="PingFang SC"/>
              </a:rPr>
              <a:t>软件免费下载；内置模型按积分计费，也可填自己的</a:t>
            </a:r>
            <a:r>
              <a:rPr lang="en-US" sz="900">
                <a:solidFill>
                  <a:srgbClr val="6E6E73"/>
                </a:solidFill>
                <a:latin typeface="PingFang SC"/>
                <a:ea typeface="PingFang SC"/>
              </a:rPr>
              <a:t xml:space="preserve"> API Key</a:t>
            </a:r>
            <a:r>
              <a:rPr lang="zh-CN" sz="900">
                <a:solidFill>
                  <a:srgbClr val="6E6E73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685800" y="5905500"/>
            <a:ext cx="10820400" cy="571500"/>
          </a:xfrm>
          <a:custGeom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E4E4E7"/>
          </a:solidFill>
          <a:ln/>
        </p:spPr>
        <p:txBody>
          <a:bodyPr/>
          <a:p/>
        </p:txBody>
      </p:sp>
      <p:pic>
        <p:nvPicPr>
          <p:cNvPr id="207" name=""/>
          <p:cNvPicPr>
            <a:picLocks noChangeAspect="1"/>
          </p:cNvPicPr>
          <p:nvPr/>
        </p:nvPicPr>
        <p:blipFill>
          <a:blip r:embed="rId3"/>
          <a:srcRect l="0" t="810" r="0" b="810"/>
          <a:stretch>
            <a:fillRect/>
          </a:stretch>
        </p:blipFill>
        <p:spPr>
          <a:xfrm rot="0" flipH="0" flipV="0">
            <a:off x="685800" y="6105525"/>
            <a:ext cx="238125" cy="190500"/>
          </a:xfrm>
          <a:prstGeom prst="rect">
            <a:avLst/>
          </a:prstGeom>
          <a:ln/>
        </p:spPr>
      </p:pic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000125" y="6124575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3B3BA"/>
                </a:solidFill>
                <a:latin typeface="PingFang SC"/>
                <a:ea typeface="PingFang SC"/>
              </a:rPr>
              <a:t>麓鸣</a:t>
            </a:r>
            <a:r>
              <a:rPr lang="en-US" sz="975">
                <a:solidFill>
                  <a:srgbClr val="B3B3BA"/>
                </a:solidFill>
                <a:latin typeface="PingFang SC"/>
                <a:ea typeface="PingFang SC"/>
              </a:rPr>
              <a:t xml:space="preserve"> Lom · </a:t>
            </a:r>
            <a:r>
              <a:rPr lang="zh-CN" sz="975">
                <a:solidFill>
                  <a:srgbClr val="B3B3BA"/>
                </a:solidFill>
                <a:latin typeface="PingFang SC"/>
                <a:ea typeface="PingFang SC"/>
              </a:rPr>
              <a:t>一人公司操作系统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1125200" y="61245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B3B3BA"/>
                </a:solidFill>
                <a:latin typeface="JetBrains Mono"/>
                <a:ea typeface="JetBrains Mono"/>
              </a:rPr>
              <a:t>08 / 10</a:t>
            </a:r>
            <a:endParaRPr/>
          </a:p>
        </p:txBody>
      </p:sp>
    </p:spTree>
  </p:cSld>
</p:sld>
</file>

<file path=ppt/slides/slide9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210" name="" descr="&lt;Slide style={{ width: 1280, height: 720, background: '#FAFAFA', paddingTop: 20, paddingRight: 72, paddingBottom: 20, paddingLeft: 72, flexDirection: 'column' }}&gt;&#10;  &lt;Box style={{ height: 100, justifyContent: 'center', flexDirection: 'column' }}&gt;&#10;    &lt;Box style={{ flexDirection: 'row', alignItems: 'center', gap: 10, marginBottom: 6 }}&gt;&#10;      &lt;Image src=&quot;assets/logo-strip.png&quot; style={{ height: 15, width: 188 }} /&gt;&#10;      &lt;Image src=&quot;assets/badge.png&quot; style={{ height: 12, width: 146 }} /&gt;&#10;    &lt;/Box&gt;&#10;    &lt;Text style={{ fontSize: 30, fontWeight: 'bold', color: '#111112', fontFamily: 'PingFang SC' }}&gt;从能跑，到能规模跑&lt;/Text&gt;&#10;  &lt;/Box&gt;&#10;  &lt;Box style={{ height: 500, flexDirection: 'column' }}&gt;&#10;    &lt;Box style={{ height: 330, flexDirection: 'row', alignItems: 'center' }}&gt;&#10;      &lt;Box style={{ flex: 1, height: 300, background: '#FFFFFF', border: '1px solid #E4E4E7', borderRadius: 16, padding: 26, justifyContent: 'space-between' }}&gt;&#10;        &lt;Text style={{ fontSize: 15, color: '#B3B3BA', fontFamily: 'PingFang SC' }}&gt;7 月 · 第一版&lt;/Text&gt;&#10;        &lt;Box&gt;&#10;          &lt;Text style={{ fontSize: 80, fontWeight: 'bold', color: '#B3B3BA', fontFamily: 'JetBrains Mono', lineHeight: 1.1 }}&gt;5–10&lt;/Text&gt;&#10;          &lt;Text style={{ fontSize: 18, color: '#B3B3BA', fontFamily: 'PingFang SC', marginTop: 4 }}&gt;分钟 / 单&lt;/Text&gt;&#10;        &lt;/Box&gt;&#10;        &lt;Box style={{ borderTop: '1px solid #E4E4E7', paddingTop: 12 }}&gt;&#10;          &lt;Text style={{ fontSize: 15, color: '#B3B3BA', fontFamily: 'PingFang SC', lineHeight: 1.6 }}&gt;能操作手机，但每个动作都重来&lt;/Text&gt;&#10;        &lt;/Box&gt;&#10;      &lt;/Box&gt;&#10;      &lt;Box style={{ width: 60, alignItems: 'center', justifyContent: 'center' }}&gt;&#10;        &lt;Text style={{ fontSize: 36, color: '#111112', fontFamily: 'JetBrains Mono' }}&gt;→&lt;/Text&gt;&#10;      &lt;/Box&gt;&#10;      &lt;Box style={{ flex: 1, height: 300, background: '#111112', borderRadius: 16, padding: 26, justifyContent: 'space-between' }}&gt;&#10;        &lt;Text style={{ fontSize: 15, color: '#4CC07A', fontFamily: 'PingFang SC', fontWeight: 'bold' }}&gt;现在 · 脚本可复用&lt;/Text&gt;&#10;        &lt;Box&gt;&#10;          &lt;Text style={{ fontSize: 96, fontWeight: 'bold', color: '#4CC07A', fontFamily: 'JetBrains Mono', lineHeight: 1.05 }}&gt;10 秒&lt;/Text&gt;&#10;          &lt;Text style={{ fontSize: 18, color: '#FAFAFA', fontFamily: 'PingFang SC', marginTop: 6 }}&gt;第二遍 · 同一套流程&lt;/Text&gt;&#10;        &lt;/Box&gt;&#10;        &lt;Box style={{ borderTop: '1px solid #3A3A3E', paddingTop: 12 }}&gt;&#10;          &lt;Text style={{ fontSize: 15, color: '#B3B3BA', fontFamily: 'PingFang SC', lineHeight: 1.6 }}&gt;从能跑，到能规模跑，隔了三个月&lt;/Text&gt;&#10;        &lt;/Box&gt;&#10;      &lt;/Box&gt;&#10;    &lt;/Box&gt;&#10;    &lt;Box style={{ height: 80, flexDirection: 'row', alignItems: 'center', justifyContent: 'center' }}&gt;&#10;      &lt;Text style={{ fontSize: 15, color: '#6E6E73', fontFamily: 'JetBrains Mono', paddingRight: 18 }}&gt;2026.07&lt;/Text&gt;&#10;      &lt;Box style={{ width: 100, height: 1, background: '#E4E4E7' }} /&gt;&#10;      &lt;Text style={{ fontSize: 15, color: '#6E6E73', fontFamily: 'PingFang SC', paddingLeft: 18, paddingRight: 18 }}&gt;可复用 · 元宝搜索 · 海龟汤 · 多 Agent 集成&lt;/Text&gt;&#10;      &lt;Box style={{ width: 100, height: 1, background: '#E4E4E7' }} /&gt;&#10;      &lt;Text style={{ fontSize: 15, color: '#1F8A4C', fontFamily: 'JetBrains Mono', paddingLeft: 18 }}&gt;10.24&lt;/Text&gt;&#10;    &lt;/Box&gt;&#10;    &lt;Box style={{ flexDirection: 'row', gap: 14, height: 70 }}&gt;&#10;      &lt;Box style={{ flex: 1, alignItems: 'center', justifyContent: 'center', background: '#FFFFFF', border: '1px solid #E4E4E7', borderRadius: 12 }}&gt;&#10;        &lt;Text style={{ fontSize: 26, fontWeight: 'bold', color: '#1F8A4C', fontFamily: 'JetBrains Mono' }}&gt;16&lt;/Text&gt;&#10;        &lt;Text style={{ fontSize: 12, color: '#6E6E73', fontFamily: 'PingFang SC', marginTop: 2 }}&gt;位真实用户在用&lt;/Text&gt;&#10;      &lt;/Box&gt;&#10;      &lt;Box style={{ flex: 1, alignItems: 'center', justifyContent: 'center', background: '#FFFFFF', border: '1px solid #E4E4E7', borderRadius: 12 }}&gt;&#10;        &lt;Text style={{ fontSize: 26, fontWeight: 'bold', color: '#1F8A4C', fontFamily: 'JetBrains Mono' }}&gt;1000+&lt;/Text&gt;&#10;        &lt;Text style={{ fontSize: 12, color: '#6E6E73', fontFamily: 'PingFang SC', marginTop: 2 }}&gt;半天社媒浏览量&lt;/Text&gt;&#10;      &lt;/Box&gt;&#10;      &lt;Box style={{ flex: 1, alignItems: 'center', justifyContent: 'center', background: '#FFFFFF', border: '1px solid #E4E4E7', borderRadius: 12 }}&gt;&#10;        &lt;Text style={{ fontSize: 26, fontWeight: 'bold', color: '#111112', fontFamily: 'JetBrains Mono' }}&gt;3 个月&lt;/Text&gt;&#10;        &lt;Text style={{ fontSize: 12, color: '#6E6E73', fontFamily: 'PingFang SC', marginTop: 2 }}&gt;从第一版到现在&lt;/Text&gt;&#10;      &lt;/Box&gt;&#10;    &lt;/Box&gt;&#10;  &lt;/Box&gt;&#10;  &lt;Box style={{ height: 60, flexDirection: 'row', alignItems: 'center', justifyContent: 'space-between', borderTop: '1px solid #E4E4E7' }}&gt;&#10;    &lt;Box style={{ flexDirection: 'row', alignItems: 'center', gap: 8 }}&gt;&#10;      &lt;Image src=&quot;assets/lom-logo.png&quot; style={{ height: 20, width: 25 }} /&gt;&#10;      &lt;Text style={{ fontSize: 13, color: '#B3B3BA', fontFamily: 'PingFang SC' }}&gt;麓鸣 Lom · 一人公司操作系统&lt;/Text&gt;&#10;    &lt;/Box&gt;&#10;    &lt;Text style={{ fontSize: 13, color: '#B3B3BA', fontFamily: 'JetBrains Mono' }}&gt;09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p/>
        </p:txBody>
      </p:sp>
      <p:pic>
        <p:nvPicPr>
          <p:cNvPr id="212" name=""/>
          <p:cNvPicPr>
            <a:picLocks noChangeAspect="1"/>
          </p:cNvPicPr>
          <p:nvPr/>
        </p:nvPicPr>
        <p:blipFill>
          <a:blip r:embed="rId1"/>
          <a:srcRect l="116" t="0" r="116" b="0"/>
          <a:stretch>
            <a:fillRect/>
          </a:stretch>
        </p:blipFill>
        <p:spPr>
          <a:xfrm rot="0" flipH="0" flipV="0">
            <a:off x="685800" y="400050"/>
            <a:ext cx="1790700" cy="142875"/>
          </a:xfrm>
          <a:prstGeom prst="rect">
            <a:avLst/>
          </a:prstGeom>
          <a:ln/>
        </p:spPr>
      </p:pic>
      <p:pic>
        <p:nvPicPr>
          <p:cNvPr id="213" name=""/>
          <p:cNvPicPr>
            <a:picLocks noChangeAspect="1"/>
          </p:cNvPicPr>
          <p:nvPr/>
        </p:nvPicPr>
        <p:blipFill>
          <a:blip r:embed="rId2"/>
          <a:srcRect l="136" t="0" r="136" b="0"/>
          <a:stretch>
            <a:fillRect/>
          </a:stretch>
        </p:blipFill>
        <p:spPr>
          <a:xfrm rot="0" flipH="0" flipV="0">
            <a:off x="2571750" y="419100"/>
            <a:ext cx="1390650" cy="114300"/>
          </a:xfrm>
          <a:prstGeom prst="rect">
            <a:avLst/>
          </a:prstGeom>
          <a:ln/>
        </p:spPr>
      </p:pic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85800" y="600075"/>
            <a:ext cx="10820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11112"/>
                </a:solidFill>
                <a:latin typeface="PingFang SC"/>
                <a:ea typeface="PingFang SC"/>
              </a:rPr>
              <a:t>从能跑，到能规模跑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85800" y="1285875"/>
            <a:ext cx="5124450" cy="28575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933450" y="1533525"/>
            <a:ext cx="462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3B3BA"/>
                </a:solidFill>
                <a:latin typeface="PingFang SC"/>
                <a:ea typeface="PingFang SC"/>
              </a:rPr>
              <a:t xml:space="preserve">7 </a:t>
            </a:r>
            <a:r>
              <a:rPr lang="zh-CN" sz="1125">
                <a:solidFill>
                  <a:srgbClr val="B3B3BA"/>
                </a:solidFill>
                <a:latin typeface="PingFang SC"/>
                <a:ea typeface="PingFang SC"/>
              </a:rPr>
              <a:t>月</a:t>
            </a:r>
            <a:r>
              <a:rPr lang="en-US" sz="1125">
                <a:solidFill>
                  <a:srgbClr val="B3B3BA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125">
                <a:solidFill>
                  <a:srgbClr val="B3B3BA"/>
                </a:solidFill>
                <a:latin typeface="PingFang SC"/>
                <a:ea typeface="PingFang SC"/>
              </a:rPr>
              <a:t>第一版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933450" y="1971675"/>
            <a:ext cx="4629150" cy="10096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6000" b="1">
                <a:solidFill>
                  <a:srgbClr val="B3B3BA"/>
                </a:solidFill>
                <a:latin typeface="JetBrains Mono"/>
                <a:ea typeface="JetBrains Mono"/>
              </a:rPr>
              <a:t>5–10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933450" y="3019425"/>
            <a:ext cx="4629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B3B3BA"/>
                </a:solidFill>
                <a:latin typeface="PingFang SC"/>
                <a:ea typeface="PingFang SC"/>
              </a:rPr>
              <a:t>分钟</a:t>
            </a:r>
            <a:r>
              <a:rPr lang="en-US" sz="1350">
                <a:solidFill>
                  <a:srgbClr val="B3B3BA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350">
                <a:solidFill>
                  <a:srgbClr val="B3B3BA"/>
                </a:solidFill>
                <a:latin typeface="PingFang SC"/>
                <a:ea typeface="PingFang SC"/>
              </a:rPr>
              <a:t>单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933450" y="3495675"/>
            <a:ext cx="4629150" cy="409575"/>
          </a:xfrm>
          <a:custGeom>
            <a:pathLst>
              <a:path w="486" h="43">
                <a:moveTo>
                  <a:pt x="0" y="0"/>
                </a:moveTo>
                <a:lnTo>
                  <a:pt x="486" y="0"/>
                </a:lnTo>
                <a:lnTo>
                  <a:pt x="486" y="1"/>
                </a:lnTo>
                <a:lnTo>
                  <a:pt x="0" y="1"/>
                </a:lnTo>
                <a:close/>
              </a:path>
            </a:pathLst>
          </a:custGeom>
          <a:solidFill>
            <a:srgbClr val="E4E4E7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933450" y="3619500"/>
            <a:ext cx="4629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B3B3BA"/>
                </a:solidFill>
                <a:latin typeface="PingFang SC"/>
                <a:ea typeface="PingFang SC"/>
              </a:rPr>
              <a:t>能操作手机，但每个动作都重来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924550" y="2505075"/>
            <a:ext cx="3429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700">
                <a:solidFill>
                  <a:srgbClr val="111112"/>
                </a:solidFill>
                <a:latin typeface="JetBrains Mono"/>
                <a:ea typeface="JetBrains Mono"/>
              </a:rPr>
              <a:t>→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381750" y="1285875"/>
            <a:ext cx="5124450" cy="2857500"/>
          </a:xfrm>
          <a:prstGeom prst="roundRect">
            <a:avLst>
              <a:gd name="adj" fmla="val 5333"/>
            </a:avLst>
          </a:prstGeom>
          <a:solidFill>
            <a:srgbClr val="111112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629400" y="1533525"/>
            <a:ext cx="462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CC07A"/>
                </a:solidFill>
                <a:latin typeface="PingFang SC"/>
                <a:ea typeface="PingFang SC"/>
              </a:rPr>
              <a:t>现在</a:t>
            </a:r>
            <a:r>
              <a:rPr lang="en-US" sz="1125" b="1">
                <a:solidFill>
                  <a:srgbClr val="4CC07A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125" b="1">
                <a:solidFill>
                  <a:srgbClr val="4CC07A"/>
                </a:solidFill>
                <a:latin typeface="PingFang SC"/>
                <a:ea typeface="PingFang SC"/>
              </a:rPr>
              <a:t>脚本可复用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629400" y="1895475"/>
            <a:ext cx="4629150" cy="115252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7200" b="1">
                <a:solidFill>
                  <a:srgbClr val="4CC07A"/>
                </a:solidFill>
                <a:latin typeface="JetBrains Mono"/>
                <a:ea typeface="JetBrains Mono"/>
              </a:rPr>
              <a:t xml:space="preserve">10 </a:t>
            </a:r>
            <a:r>
              <a:rPr lang="zh-CN" sz="7200" b="1">
                <a:solidFill>
                  <a:srgbClr val="4CC07A"/>
                </a:solidFill>
                <a:latin typeface="JetBrains Mono"/>
                <a:ea typeface="JetBrains Mono"/>
              </a:rPr>
              <a:t>秒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629400" y="3105150"/>
            <a:ext cx="4629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AFAFA"/>
                </a:solidFill>
                <a:latin typeface="PingFang SC"/>
                <a:ea typeface="PingFang SC"/>
              </a:rPr>
              <a:t>第二遍</a:t>
            </a:r>
            <a:r>
              <a:rPr lang="en-US" sz="1350">
                <a:solidFill>
                  <a:srgbClr val="FAFAFA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350">
                <a:solidFill>
                  <a:srgbClr val="FAFAFA"/>
                </a:solidFill>
                <a:latin typeface="PingFang SC"/>
                <a:ea typeface="PingFang SC"/>
              </a:rPr>
              <a:t>同一套流程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6629400" y="3495675"/>
            <a:ext cx="4629150" cy="409575"/>
          </a:xfrm>
          <a:custGeom>
            <a:pathLst>
              <a:path w="486" h="43">
                <a:moveTo>
                  <a:pt x="0" y="0"/>
                </a:moveTo>
                <a:lnTo>
                  <a:pt x="486" y="0"/>
                </a:lnTo>
                <a:lnTo>
                  <a:pt x="486" y="1"/>
                </a:lnTo>
                <a:lnTo>
                  <a:pt x="0" y="1"/>
                </a:lnTo>
                <a:close/>
              </a:path>
            </a:pathLst>
          </a:custGeom>
          <a:solidFill>
            <a:srgbClr val="3A3A3E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629400" y="3619500"/>
            <a:ext cx="4629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B3B3BA"/>
                </a:solidFill>
                <a:latin typeface="PingFang SC"/>
                <a:ea typeface="PingFang SC"/>
              </a:rPr>
              <a:t>从能跑，到能规模跑，隔了三个月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2933700" y="4581525"/>
            <a:ext cx="695325" cy="171450"/>
          </a:xfrm>
          <a:prstGeom prst="rect"/>
        </p:spPr>
        <p:txBody>
          <a:bodyPr wrap="none" lIns="0" tIns="0" rIns="128588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E6E73"/>
                </a:solidFill>
                <a:latin typeface="JetBrains Mono"/>
                <a:ea typeface="JetBrains Mono"/>
              </a:rPr>
              <a:t>2026.07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3629025" y="4667250"/>
            <a:ext cx="952500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581525" y="4581525"/>
            <a:ext cx="3190875" cy="171450"/>
          </a:xfrm>
          <a:prstGeom prst="rect"/>
        </p:spPr>
        <p:txBody>
          <a:bodyPr wrap="none" lIns="128588" tIns="0" rIns="128588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可复用</a:t>
            </a: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元宝搜索</a:t>
            </a: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海龟汤</a:t>
            </a: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多</a:t>
            </a: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 xml:space="preserve"> Agent 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集成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7772400" y="4667250"/>
            <a:ext cx="952500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724900" y="4581525"/>
            <a:ext cx="533400" cy="171450"/>
          </a:xfrm>
          <a:prstGeom prst="rect"/>
        </p:spPr>
        <p:txBody>
          <a:bodyPr wrap="none" lIns="128588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F8A4C"/>
                </a:solidFill>
                <a:latin typeface="JetBrains Mono"/>
                <a:ea typeface="JetBrains Mono"/>
              </a:rPr>
              <a:t>10.24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685800" y="5048250"/>
            <a:ext cx="3514725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2305050" y="5153025"/>
            <a:ext cx="2762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F8A4C"/>
                </a:solidFill>
                <a:latin typeface="JetBrains Mono"/>
                <a:ea typeface="JetBrains Mono"/>
              </a:rPr>
              <a:t>16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2047875" y="5476875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E6E73"/>
                </a:solidFill>
                <a:latin typeface="PingFang SC"/>
                <a:ea typeface="PingFang SC"/>
              </a:rPr>
              <a:t>位真实用户在用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4333875" y="5048250"/>
            <a:ext cx="35242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743575" y="5153025"/>
            <a:ext cx="704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F8A4C"/>
                </a:solidFill>
                <a:latin typeface="JetBrains Mono"/>
                <a:ea typeface="JetBrains Mono"/>
              </a:rPr>
              <a:t>1000+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5695950" y="5476875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E6E73"/>
                </a:solidFill>
                <a:latin typeface="PingFang SC"/>
                <a:ea typeface="PingFang SC"/>
              </a:rPr>
              <a:t>半天社媒浏览量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7991475" y="5048250"/>
            <a:ext cx="3514725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9401175" y="5153025"/>
            <a:ext cx="704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11112"/>
                </a:solidFill>
                <a:latin typeface="JetBrains Mono"/>
                <a:ea typeface="JetBrains Mono"/>
              </a:rPr>
              <a:t xml:space="preserve">3 </a:t>
            </a:r>
            <a:r>
              <a:rPr lang="zh-CN" sz="1950" b="1">
                <a:solidFill>
                  <a:srgbClr val="111112"/>
                </a:solidFill>
                <a:latin typeface="JetBrains Mono"/>
                <a:ea typeface="JetBrains Mono"/>
              </a:rPr>
              <a:t>个月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9353550" y="5476875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E6E73"/>
                </a:solidFill>
                <a:latin typeface="PingFang SC"/>
                <a:ea typeface="PingFang SC"/>
              </a:rPr>
              <a:t>从第一版到现在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685800" y="5905500"/>
            <a:ext cx="10820400" cy="571500"/>
          </a:xfrm>
          <a:custGeom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E4E4E7"/>
          </a:solidFill>
          <a:ln/>
        </p:spPr>
        <p:txBody>
          <a:bodyPr/>
          <a:p/>
        </p:txBody>
      </p:sp>
      <p:pic>
        <p:nvPicPr>
          <p:cNvPr id="243" name=""/>
          <p:cNvPicPr>
            <a:picLocks noChangeAspect="1"/>
          </p:cNvPicPr>
          <p:nvPr/>
        </p:nvPicPr>
        <p:blipFill>
          <a:blip r:embed="rId3"/>
          <a:srcRect l="0" t="810" r="0" b="810"/>
          <a:stretch>
            <a:fillRect/>
          </a:stretch>
        </p:blipFill>
        <p:spPr>
          <a:xfrm rot="0" flipH="0" flipV="0">
            <a:off x="685800" y="6105525"/>
            <a:ext cx="238125" cy="190500"/>
          </a:xfrm>
          <a:prstGeom prst="rect">
            <a:avLst/>
          </a:prstGeom>
          <a:ln/>
        </p:spPr>
      </p:pic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000125" y="6124575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3B3BA"/>
                </a:solidFill>
                <a:latin typeface="PingFang SC"/>
                <a:ea typeface="PingFang SC"/>
              </a:rPr>
              <a:t>麓鸣</a:t>
            </a:r>
            <a:r>
              <a:rPr lang="en-US" sz="975">
                <a:solidFill>
                  <a:srgbClr val="B3B3BA"/>
                </a:solidFill>
                <a:latin typeface="PingFang SC"/>
                <a:ea typeface="PingFang SC"/>
              </a:rPr>
              <a:t xml:space="preserve"> Lom · </a:t>
            </a:r>
            <a:r>
              <a:rPr lang="zh-CN" sz="975">
                <a:solidFill>
                  <a:srgbClr val="B3B3BA"/>
                </a:solidFill>
                <a:latin typeface="PingFang SC"/>
                <a:ea typeface="PingFang SC"/>
              </a:rPr>
              <a:t>一人公司操作系统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1125200" y="61245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B3B3BA"/>
                </a:solidFill>
                <a:latin typeface="JetBrains Mono"/>
                <a:ea typeface="JetBrains Mono"/>
              </a:rPr>
              <a:t>09 / 10</a:t>
            </a:r>
            <a:endParaRPr/>
          </a:p>
        </p:txBody>
      </p:sp>
    </p:spTree>
  </p:cSld>
</p:sld>
</file>

<file path=ppt/slides/slide10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8" name="" descr="&lt;Slide style={{ width: 1280, height: 720, background: '#FAFAFA', paddingTop: 40, paddingRight: 80, paddingBottom: 30, paddingLeft: 80, flexDirection: 'column', alignItems: 'center', justifyContent: 'space-between' }}&gt;&#10;  &lt;Box style={{ width: '100%', flexDirection: 'row', alignItems: 'center', gap: 10, justifyContent: 'flex-start' }}&gt;&#10;    &lt;Image src=&quot;assets/logo-strip.png&quot; style={{ height: 22, width: 276 }} /&gt;&#10;    &lt;Image src=&quot;assets/badge.png&quot; style={{ height: 17, width: 207 }} /&gt;&#10;  &lt;/Box&gt;&#10;  &lt;Box style={{ alignItems: 'center' }}&gt;&#10;    &lt;Text style={{ fontSize: 56, fontWeight: 'bold', color: '#111112', fontFamily: 'PingFang SC', letterSpacing: -1, lineHeight: 1.2, textAlign: 'center' }}&gt;一个人就是一家公司。&lt;/Text&gt;&#10;    &lt;Text style={{ fontSize: 19, color: '#6E6E73', fontFamily: 'PingFang SC', marginTop: 14, textAlign: 'center' }}&gt;这不是口号——是正在发生的事。&lt;/Text&gt;&#10;    &lt;Box style={{ flexDirection: 'row', gap: 14, marginTop: 20 }}&gt;&#10;      &lt;Box style={{ width: 172, background: '#FFFFFF', border: '1px solid #E4E4E7', borderRadius: 12, paddingTop: 16, paddingBottom: 16, alignItems: 'center' }}&gt;&#10;        &lt;Text style={{ fontSize: 28, fontWeight: 'bold', color: '#1F8A4C', fontFamily: 'JetBrains Mono' }}&gt;16&lt;/Text&gt;&#10;        &lt;Text style={{ fontSize: 12, color: '#6E6E73', fontFamily: 'PingFang SC', marginTop: 2 }}&gt;位真实用户&lt;/Text&gt;&#10;      &lt;/Box&gt;&#10;      &lt;Box style={{ width: 172, background: '#FFFFFF', border: '1px solid #E4E4E7', borderRadius: 12, paddingTop: 16, paddingBottom: 16, alignItems: 'center' }}&gt;&#10;        &lt;Text style={{ fontSize: 28, fontWeight: 'bold', color: '#1F8A4C', fontFamily: 'JetBrains Mono' }}&gt;1000+&lt;/Text&gt;&#10;        &lt;Text style={{ fontSize: 12, color: '#6E6E73', fontFamily: 'PingFang SC', marginTop: 2 }}&gt;半日社媒浏览&lt;/Text&gt;&#10;      &lt;/Box&gt;&#10;      &lt;Box style={{ width: 172, background: '#FFFFFF', border: '1px solid #E4E4E7', borderRadius: 12, paddingTop: 16, paddingBottom: 16, alignItems: 'center' }}&gt;&#10;        &lt;Text style={{ fontSize: 28, fontWeight: 'bold', color: '#111112', fontFamily: 'JetBrains Mono' }}&gt;3 个月&lt;/Text&gt;&#10;        &lt;Text style={{ fontSize: 12, color: '#6E6E73', fontFamily: 'PingFang SC', marginTop: 2 }}&gt;从第一版到现在&lt;/Text&gt;&#10;      &lt;/Box&gt;&#10;    &lt;/Box&gt;&#10;    &lt;Box style={{ marginTop: 28, background: '#111112', borderRadius: 32, paddingTop: 16, paddingBottom: 16, paddingLeft: 40, paddingRight: 40 }}&gt;&#10;      &lt;Text style={{ fontSize: 21, fontWeight: 'bold', color: '#FAFAFA', fontFamily: 'JetBrains Mono' }}&gt;lom.entermodetwo.com&lt;/Text&gt;&#10;    &lt;/Box&gt;&#10;    &lt;Text style={{ fontSize: 15, color: '#6E6E73', fontFamily: 'PingFang SC', marginTop: 20, textAlign: 'center', lineHeight: 1.6 }}&gt;免费下载 · Mac / Windows / 安卓 · 免费版可接 1 台手机&lt;br /&gt;桌面端开源 AGPL-3.0 · 40+ 种电脑 Agent 可直接接入&lt;/Text&gt;&#10;    &lt;Box style={{ flexDirection: 'row', gap: 12, marginTop: 24 }}&gt;&#10;      &lt;Box style={{ background: '#FFFFFF', border: '1px solid #E4E4E7', borderRadius: 20, paddingTop: 8, paddingBottom: 8, paddingLeft: 16, paddingRight: 16 }}&gt;&#10;        &lt;Text style={{ fontSize: 14, color: '#111112', fontFamily: 'PingFang SC' }}&gt;海龟汤提问法&lt;/Text&gt;&#10;      &lt;/Box&gt;&#10;      &lt;Box style={{ background: '#FFFFFF', border: '1px solid #E4E4E7', borderRadius: 20, paddingTop: 8, paddingBottom: 8, paddingLeft: 16, paddingRight: 16 }}&gt;&#10;        &lt;Text style={{ fontSize: 14, color: '#111112', fontFamily: 'PingFang SC' }}&gt;元宝搜索交叉验证&lt;/Text&gt;&#10;      &lt;/Box&gt;&#10;      &lt;Box style={{ background: '#FFFFFF', border: '1px solid #E4E4E7', borderRadius: 20, paddingTop: 8, paddingBottom: 8, paddingLeft: 16, paddingRight: 16 }}&gt;&#10;        &lt;Text style={{ fontSize: 14, color: '#111112', fontFamily: 'PingFang SC' }}&gt;手机 Agent 执行&lt;/Text&gt;&#10;      &lt;/Box&gt;&#10;    &lt;/Box&gt;&#10;  &lt;/Box&gt;&#10;  &lt;Box style={{ width: '100%', flexDirection: 'row', alignItems: 'center', justifyContent: 'space-between', borderTop: '1px solid #E4E4E7', paddingTop: 16 }}&gt;&#10;    &lt;Box style={{ flexDirection: 'row', alignItems: 'center', gap: 10 }}&gt;&#10;      &lt;Image src=&quot;assets/lom-logo.png&quot; style={{ height: 24, width: 30 }} /&gt;&#10;      &lt;Text style={{ fontSize: 13, color: '#B3B3BA', fontFamily: 'PingFang SC' }}&gt;麓鸣 Lom · OPC / 侦探双赛道&lt;/Text&gt;&#10;    &lt;/Box&gt;&#10;    &lt;Text style={{ fontSize: 13, color: '#6E6E73', fontFamily: 'JetBrains Mono' }}&gt;github.com/rfdiosuao/lom-desktop · 点个 Star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p/>
        </p:txBody>
      </p:sp>
      <p:pic>
        <p:nvPicPr>
          <p:cNvPr id="20" name=""/>
          <p:cNvPicPr>
            <a:picLocks noChangeAspect="1"/>
          </p:cNvPicPr>
          <p:nvPr/>
        </p:nvPicPr>
        <p:blipFill>
          <a:blip r:embed="rId1"/>
          <a:srcRect l="67" t="0" r="67" b="0"/>
          <a:stretch>
            <a:fillRect/>
          </a:stretch>
        </p:blipFill>
        <p:spPr>
          <a:xfrm rot="0" flipH="0" flipV="0">
            <a:off x="762000" y="381000"/>
            <a:ext cx="2628900" cy="209550"/>
          </a:xfrm>
          <a:prstGeom prst="rect">
            <a:avLst/>
          </a:prstGeom>
          <a:ln/>
        </p:spPr>
      </p:pic>
      <p:pic>
        <p:nvPicPr>
          <p:cNvPr id="21" name=""/>
          <p:cNvPicPr>
            <a:picLocks noChangeAspect="1"/>
          </p:cNvPicPr>
          <p:nvPr/>
        </p:nvPicPr>
        <p:blipFill>
          <a:blip r:embed="rId2"/>
          <a:srcRect l="96" t="0" r="96" b="0"/>
          <a:stretch>
            <a:fillRect/>
          </a:stretch>
        </p:blipFill>
        <p:spPr>
          <a:xfrm rot="0" flipH="0" flipV="0">
            <a:off x="3486150" y="409575"/>
            <a:ext cx="1971675" cy="161925"/>
          </a:xfrm>
          <a:prstGeom prst="rect">
            <a:avLst/>
          </a:prstGeom>
          <a:ln/>
        </p:spPr>
      </p:pic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3476625" y="1285875"/>
            <a:ext cx="5238750" cy="771525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zh-CN" sz="4200" b="1" spc="-75">
                <a:solidFill>
                  <a:srgbClr val="111112"/>
                </a:solidFill>
                <a:latin typeface="PingFang SC"/>
                <a:ea typeface="PingFang SC"/>
              </a:rPr>
              <a:t>一个人就是一家公司。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4743450" y="2190750"/>
            <a:ext cx="2714625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425">
                <a:solidFill>
                  <a:srgbClr val="6E6E73"/>
                </a:solidFill>
                <a:latin typeface="PingFang SC"/>
                <a:ea typeface="PingFang SC"/>
              </a:rPr>
              <a:t>这不是口号——是正在发生的事。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3505200" y="2600325"/>
            <a:ext cx="1638300" cy="790575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4171950" y="2752725"/>
            <a:ext cx="304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1F8A4C"/>
                </a:solidFill>
                <a:latin typeface="JetBrains Mono"/>
                <a:ea typeface="JetBrains Mono"/>
              </a:rPr>
              <a:t>16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038600" y="30956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E6E73"/>
                </a:solidFill>
                <a:latin typeface="PingFang SC"/>
                <a:ea typeface="PingFang SC"/>
              </a:rPr>
              <a:t>位真实用户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5276850" y="2600325"/>
            <a:ext cx="1638300" cy="790575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724525" y="2752725"/>
            <a:ext cx="7524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1F8A4C"/>
                </a:solidFill>
                <a:latin typeface="JetBrains Mono"/>
                <a:ea typeface="JetBrains Mono"/>
              </a:rPr>
              <a:t>1000+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753100" y="309562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E6E73"/>
                </a:solidFill>
                <a:latin typeface="PingFang SC"/>
                <a:ea typeface="PingFang SC"/>
              </a:rPr>
              <a:t>半日社媒浏览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7048500" y="2600325"/>
            <a:ext cx="1638300" cy="790575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486650" y="2752725"/>
            <a:ext cx="762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111112"/>
                </a:solidFill>
                <a:latin typeface="JetBrains Mono"/>
                <a:ea typeface="JetBrains Mono"/>
              </a:rPr>
              <a:t xml:space="preserve">3 </a:t>
            </a:r>
            <a:r>
              <a:rPr lang="zh-CN" sz="2100" b="1">
                <a:solidFill>
                  <a:srgbClr val="111112"/>
                </a:solidFill>
                <a:latin typeface="JetBrains Mono"/>
                <a:ea typeface="JetBrains Mono"/>
              </a:rPr>
              <a:t>个月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467600" y="3095625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E6E73"/>
                </a:solidFill>
                <a:latin typeface="PingFang SC"/>
                <a:ea typeface="PingFang SC"/>
              </a:rPr>
              <a:t>从第一版到现在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4591050" y="3657600"/>
            <a:ext cx="3009900" cy="552450"/>
          </a:xfrm>
          <a:prstGeom prst="roundRect">
            <a:avLst>
              <a:gd name="adj" fmla="val 55172"/>
            </a:avLst>
          </a:prstGeom>
          <a:solidFill>
            <a:srgbClr val="111112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972050" y="3810000"/>
            <a:ext cx="2247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AFAFA"/>
                </a:solidFill>
                <a:latin typeface="JetBrains Mono"/>
                <a:ea typeface="JetBrains Mono"/>
              </a:rPr>
              <a:t>lom.entermodetwo.com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248150" y="4400550"/>
            <a:ext cx="3705225" cy="5524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免费下载</a:t>
            </a: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 xml:space="preserve"> · Mac / Windows / 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安卓</a:t>
            </a: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免费版可接</a:t>
            </a: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 xml:space="preserve"> 1 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台手机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桌面端开源</a:t>
            </a: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 xml:space="preserve"> AGPL-3.0 · 40+ 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种电脑</a:t>
            </a:r>
            <a:r>
              <a:rPr lang="en-US" sz="1125">
                <a:solidFill>
                  <a:srgbClr val="6E6E73"/>
                </a:solidFill>
                <a:latin typeface="PingFang SC"/>
                <a:ea typeface="PingFang SC"/>
              </a:rPr>
              <a:t xml:space="preserve"> Agent </a:t>
            </a:r>
            <a:r>
              <a:rPr lang="zh-CN" sz="1125">
                <a:solidFill>
                  <a:srgbClr val="6E6E73"/>
                </a:solidFill>
                <a:latin typeface="PingFang SC"/>
                <a:ea typeface="PingFang SC"/>
              </a:rPr>
              <a:t>可直接接入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4095750" y="5181600"/>
            <a:ext cx="1104900" cy="314325"/>
          </a:xfrm>
          <a:prstGeom prst="roundRect">
            <a:avLst>
              <a:gd name="adj" fmla="val 60606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248150" y="52578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海龟汤提问法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5314950" y="5181600"/>
            <a:ext cx="1371600" cy="314325"/>
          </a:xfrm>
          <a:prstGeom prst="roundRect">
            <a:avLst>
              <a:gd name="adj" fmla="val 60606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467350" y="525780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元宝搜索交叉验证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800850" y="5181600"/>
            <a:ext cx="1295400" cy="314325"/>
          </a:xfrm>
          <a:prstGeom prst="roundRect">
            <a:avLst>
              <a:gd name="adj" fmla="val 60606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953250" y="5257800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手机</a:t>
            </a:r>
            <a:r>
              <a:rPr lang="en-US" sz="1050">
                <a:solidFill>
                  <a:srgbClr val="111112"/>
                </a:solidFill>
                <a:latin typeface="PingFang SC"/>
                <a:ea typeface="PingFang SC"/>
              </a:rPr>
              <a:t xml:space="preserve"> Agent </a:t>
            </a:r>
            <a:r>
              <a:rPr lang="zh-CN" sz="1050">
                <a:solidFill>
                  <a:srgbClr val="111112"/>
                </a:solidFill>
                <a:latin typeface="PingFang SC"/>
                <a:ea typeface="PingFang SC"/>
              </a:rPr>
              <a:t>执行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762000" y="6181725"/>
            <a:ext cx="10668000" cy="400050"/>
          </a:xfrm>
          <a:custGeom>
            <a:pathLst>
              <a:path w="1120" h="4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4E4E7"/>
          </a:solidFill>
          <a:ln/>
        </p:spPr>
        <p:txBody>
          <a:bodyPr/>
          <a:p/>
        </p:txBody>
      </p:sp>
      <p:pic>
        <p:nvPicPr>
          <p:cNvPr id="43" name=""/>
          <p:cNvPicPr>
            <a:picLocks noChangeAspect="1"/>
          </p:cNvPicPr>
          <p:nvPr/>
        </p:nvPicPr>
        <p:blipFill>
          <a:blip r:embed="rId3"/>
          <a:srcRect l="0" t="810" r="0" b="810"/>
          <a:stretch>
            <a:fillRect/>
          </a:stretch>
        </p:blipFill>
        <p:spPr>
          <a:xfrm rot="0" flipH="0" flipV="0">
            <a:off x="762000" y="6343650"/>
            <a:ext cx="285750" cy="228600"/>
          </a:xfrm>
          <a:prstGeom prst="rect">
            <a:avLst/>
          </a:prstGeom>
          <a:ln/>
        </p:spPr>
      </p:pic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143000" y="63817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3B3BA"/>
                </a:solidFill>
                <a:latin typeface="PingFang SC"/>
                <a:ea typeface="PingFang SC"/>
              </a:rPr>
              <a:t>麓鸣</a:t>
            </a:r>
            <a:r>
              <a:rPr lang="en-US" sz="975">
                <a:solidFill>
                  <a:srgbClr val="B3B3BA"/>
                </a:solidFill>
                <a:latin typeface="PingFang SC"/>
                <a:ea typeface="PingFang SC"/>
              </a:rPr>
              <a:t xml:space="preserve"> Lom · OPC / </a:t>
            </a:r>
            <a:r>
              <a:rPr lang="zh-CN" sz="975">
                <a:solidFill>
                  <a:srgbClr val="B3B3BA"/>
                </a:solidFill>
                <a:latin typeface="PingFang SC"/>
                <a:ea typeface="PingFang SC"/>
              </a:rPr>
              <a:t>侦探双赛道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953500" y="6381750"/>
            <a:ext cx="2476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E6E73"/>
                </a:solidFill>
                <a:latin typeface="JetBrains Mono"/>
                <a:ea typeface="JetBrains Mono"/>
              </a:rPr>
              <a:t xml:space="preserve">github.com/rfdiosuao/lom-desktop · </a:t>
            </a:r>
            <a:r>
              <a:rPr lang="zh-CN" sz="975">
                <a:solidFill>
                  <a:srgbClr val="6E6E73"/>
                </a:solidFill>
                <a:latin typeface="JetBrains Mono"/>
                <a:ea typeface="JetBrains Mono"/>
              </a:rPr>
              <a:t>点个</a:t>
            </a:r>
            <a:r>
              <a:rPr lang="en-US" sz="975">
                <a:solidFill>
                  <a:srgbClr val="6E6E73"/>
                </a:solidFill>
                <a:latin typeface="JetBrains Mono"/>
                <a:ea typeface="JetBrains Mono"/>
              </a:rPr>
              <a:t xml:space="preserve"> Star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2026-10-25T16:15:03Z</dcterms:created>
  <dcterms:modified xsi:type="dcterms:W3CDTF">2026-10-25T16:15:03Z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{"AIGC":{"Label":"1","ContentProducer":"00119111010856365494821B355","ProduceID":"01a170f35e9174ceb0cdabf41f98685c","ReservedCode1":"","ContentPropagator":"00119111010856365494821B355","PropagateID":"01a170f35e9174ceb0cdabf41f98685c","ReservedCode2":""}}</vt:lpwstr>
  </property>
</Properties>
</file>